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dataRepo is the storage and serving half of the working group's reanalysis effort. The aging pipeline produces the results; dataRepo makes them comparable, checkable and queryable.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analogy for genomicists: this is uniform reprocessing, applied to mass spectrometry.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projects: aging searches, dataRepo stores and serves. Keeping them separate means a stored result can always be traced to the exact search that produced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working group's question is at the level of proteoforms and PTMs, not just protein abundance, so the repository keeps that level of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figures on the public website's front page today. Proteins counted exclude decoys and contaminants.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user's instruction behind this: no critical task should slip through the cracks between projects with each one thinking it is the other's responsibility. dataRepo never defines science, but it does run the released versions of engines on the stored data, pinned and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means dataRepo executes the partner's released code on the stored data and records the version. STORE means the partner's output reaches dataRepo from elsewhere, usually from inside the search, and dataRepo keeps it with provenance. localization is phred's boundary partner and is not yet a party to the charter.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users are AI agents. The design goal is zero confidently wrong answers: an agent that cannot answer should say so, rather than answer from the wrong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item in the Next column is owned by a partner project. dataRepo stores and serves; it does not define the 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shown is public: the website, the code, and soon the data files with a DOI.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234440"/>
            <a:ext cx="1005840" cy="1005840"/>
          </a:xfrm>
          <a:prstGeom prst="ellipse">
            <a:avLst/>
          </a:prstGeom>
          <a:solidFill>
            <a:srgbClr val="4F46E5"/>
          </a:solidFill>
          <a:ln w="12700">
            <a:solidFill>
              <a:srgbClr val="4F46E5"/>
            </a:solidFill>
            <a:prstDash val="solid"/>
          </a:ln>
        </p:spPr>
      </p:sp>
      <p:pic>
        <p:nvPicPr>
          <p:cNvPr id="3" name="Image 0" descr="preencoded.png">    </p:cNvPr>
          <p:cNvPicPr>
            <a:picLocks noChangeAspect="1"/>
          </p:cNvPicPr>
          <p:nvPr/>
        </p:nvPicPr>
        <p:blipFill>
          <a:blip r:embed="rId1"/>
          <a:stretch>
            <a:fillRect/>
          </a:stretch>
        </p:blipFill>
        <p:spPr>
          <a:xfrm>
            <a:off x="972922" y="1475842"/>
            <a:ext cx="523037" cy="523037"/>
          </a:xfrm>
          <a:prstGeom prst="rect">
            <a:avLst/>
          </a:prstGeom>
        </p:spPr>
      </p:pic>
      <p:sp>
        <p:nvSpPr>
          <p:cNvPr id="4" name="Text 1"/>
          <p:cNvSpPr txBox="1"/>
          <p:nvPr/>
        </p:nvSpPr>
        <p:spPr>
          <a:xfrm>
            <a:off x="731520" y="2423160"/>
            <a:ext cx="10515600" cy="109728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dataRepo</a:t>
            </a:r>
            <a:endParaRPr lang="en-US" sz="6000" dirty="0"/>
          </a:p>
        </p:txBody>
      </p:sp>
      <p:sp>
        <p:nvSpPr>
          <p:cNvPr id="5" name="Text 2"/>
          <p:cNvSpPr txBox="1"/>
          <p:nvPr/>
        </p:nvSpPr>
        <p:spPr>
          <a:xfrm>
            <a:off x="731520" y="3520440"/>
            <a:ext cx="10515600" cy="640080"/>
          </a:xfrm>
          <a:prstGeom prst="rect">
            <a:avLst/>
          </a:prstGeom>
          <a:noFill/>
          <a:ln/>
        </p:spPr>
        <p:txBody>
          <a:bodyPr wrap="square" lIns="0" tIns="0" rIns="0" bIns="0" rtlCol="0" anchor="ctr"/>
          <a:lstStyle/>
          <a:p>
            <a:pPr indent="0" marL="0">
              <a:buNone/>
            </a:pPr>
            <a:r>
              <a:rPr lang="en-US" sz="2600" dirty="0">
                <a:solidFill>
                  <a:srgbClr val="C7C9FF"/>
                </a:solidFill>
                <a:latin typeface="Calibri" pitchFamily="34" charset="0"/>
                <a:ea typeface="Calibri" pitchFamily="34" charset="-122"/>
                <a:cs typeface="Calibri" pitchFamily="34" charset="-120"/>
              </a:rPr>
              <a:t>An AI-ready repository of reanalysed aging proteomics</a:t>
            </a:r>
            <a:endParaRPr lang="en-US" sz="2600" dirty="0"/>
          </a:p>
        </p:txBody>
      </p:sp>
      <p:sp>
        <p:nvSpPr>
          <p:cNvPr id="6" name="Text 3"/>
          <p:cNvSpPr txBox="1"/>
          <p:nvPr/>
        </p:nvSpPr>
        <p:spPr>
          <a:xfrm>
            <a:off x="731520" y="5760720"/>
            <a:ext cx="10515600" cy="457200"/>
          </a:xfrm>
          <a:prstGeom prst="rect">
            <a:avLst/>
          </a:prstGeom>
          <a:noFill/>
          <a:ln/>
        </p:spPr>
        <p:txBody>
          <a:bodyPr wrap="square" lIns="0" tIns="0" rIns="0" bIns="0" rtlCol="0" anchor="ctr"/>
          <a:lstStyle/>
          <a:p>
            <a:pPr indent="0" marL="0">
              <a:buNone/>
            </a:pPr>
            <a:r>
              <a:rPr lang="en-US" sz="1600" dirty="0">
                <a:solidFill>
                  <a:srgbClr val="A5A8E0"/>
                </a:solidFill>
                <a:latin typeface="Calibri" pitchFamily="34" charset="0"/>
                <a:ea typeface="Calibri" pitchFamily="34" charset="-122"/>
                <a:cs typeface="Calibri" pitchFamily="34" charset="-120"/>
              </a:rPr>
              <a:t>NCEMS working group on aging  ·  Smith lab, University of Wisconsin–Madison  ·  September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C1B22"/>
                </a:solidFill>
                <a:latin typeface="Arial" pitchFamily="34" charset="0"/>
                <a:ea typeface="Arial" pitchFamily="34" charset="-122"/>
                <a:cs typeface="Arial" pitchFamily="34" charset="-120"/>
              </a:rPr>
              <a:t>Public proteomics: plentiful, but not comparable</a:t>
            </a:r>
            <a:endParaRPr lang="en-US" sz="3200" dirty="0"/>
          </a:p>
        </p:txBody>
      </p:sp>
      <p:sp>
        <p:nvSpPr>
          <p:cNvPr id="3" name="Shape 1"/>
          <p:cNvSpPr/>
          <p:nvPr/>
        </p:nvSpPr>
        <p:spPr>
          <a:xfrm>
            <a:off x="548640" y="1463040"/>
            <a:ext cx="731520" cy="731520"/>
          </a:xfrm>
          <a:prstGeom prst="ellipse">
            <a:avLst/>
          </a:prstGeom>
          <a:solidFill>
            <a:srgbClr val="0E7490"/>
          </a:solidFill>
          <a:ln w="12700">
            <a:solidFill>
              <a:srgbClr val="0E7490"/>
            </a:solidFill>
            <a:prstDash val="solid"/>
          </a:ln>
        </p:spPr>
      </p:sp>
      <p:pic>
        <p:nvPicPr>
          <p:cNvPr id="4" name="Image 0" descr="preencoded.png">    </p:cNvPr>
          <p:cNvPicPr>
            <a:picLocks noChangeAspect="1"/>
          </p:cNvPicPr>
          <p:nvPr/>
        </p:nvPicPr>
        <p:blipFill>
          <a:blip r:embed="rId1"/>
          <a:stretch>
            <a:fillRect/>
          </a:stretch>
        </p:blipFill>
        <p:spPr>
          <a:xfrm>
            <a:off x="724205" y="1638605"/>
            <a:ext cx="380390" cy="380390"/>
          </a:xfrm>
          <a:prstGeom prst="rect">
            <a:avLst/>
          </a:prstGeom>
        </p:spPr>
      </p:pic>
      <p:sp>
        <p:nvSpPr>
          <p:cNvPr id="5" name="Text 2"/>
          <p:cNvSpPr txBox="1"/>
          <p:nvPr/>
        </p:nvSpPr>
        <p:spPr>
          <a:xfrm>
            <a:off x="1508760" y="1417320"/>
            <a:ext cx="5669280" cy="411480"/>
          </a:xfrm>
          <a:prstGeom prst="rect">
            <a:avLst/>
          </a:prstGeom>
          <a:noFill/>
          <a:ln/>
        </p:spPr>
        <p:txBody>
          <a:bodyPr wrap="square" lIns="0" tIns="0" rIns="0" bIns="0" rtlCol="0" anchor="ctr"/>
          <a:lstStyle/>
          <a:p>
            <a:pPr indent="0" marL="0">
              <a:buNone/>
            </a:pPr>
            <a:r>
              <a:rPr lang="en-US" sz="1900" b="1" dirty="0">
                <a:solidFill>
                  <a:srgbClr val="1C1B22"/>
                </a:solidFill>
                <a:latin typeface="Arial" pitchFamily="34" charset="0"/>
                <a:ea typeface="Arial" pitchFamily="34" charset="-122"/>
                <a:cs typeface="Arial" pitchFamily="34" charset="-120"/>
              </a:rPr>
              <a:t>Thousands of datasets are public in PRIDE</a:t>
            </a:r>
            <a:endParaRPr lang="en-US" sz="1900" dirty="0"/>
          </a:p>
        </p:txBody>
      </p:sp>
      <p:sp>
        <p:nvSpPr>
          <p:cNvPr id="6" name="Text 3"/>
          <p:cNvSpPr txBox="1"/>
          <p:nvPr/>
        </p:nvSpPr>
        <p:spPr>
          <a:xfrm>
            <a:off x="1508760" y="1847088"/>
            <a:ext cx="5669280" cy="731520"/>
          </a:xfrm>
          <a:prstGeom prst="rect">
            <a:avLst/>
          </a:prstGeom>
          <a:noFill/>
          <a:ln/>
        </p:spPr>
        <p:txBody>
          <a:bodyPr wrap="square" lIns="0" tIns="0" rIns="0" bIns="0" rtlCol="0" anchor="t"/>
          <a:lstStyle/>
          <a:p>
            <a:pPr indent="0" marL="0">
              <a:buNone/>
            </a:pPr>
            <a:r>
              <a:rPr lang="en-US" sz="1500" dirty="0">
                <a:solidFill>
                  <a:srgbClr val="5B5968"/>
                </a:solidFill>
                <a:latin typeface="Calibri" pitchFamily="34" charset="0"/>
                <a:ea typeface="Calibri" pitchFamily="34" charset="-122"/>
                <a:cs typeface="Calibri" pitchFamily="34" charset="-120"/>
              </a:rPr>
              <a:t>Raw spectra are deposited, so anyone can reanalyse them.</a:t>
            </a:r>
            <a:endParaRPr lang="en-US" sz="1500" dirty="0"/>
          </a:p>
        </p:txBody>
      </p:sp>
      <p:sp>
        <p:nvSpPr>
          <p:cNvPr id="7" name="Shape 4"/>
          <p:cNvSpPr/>
          <p:nvPr/>
        </p:nvSpPr>
        <p:spPr>
          <a:xfrm>
            <a:off x="548640" y="2926080"/>
            <a:ext cx="731520" cy="731520"/>
          </a:xfrm>
          <a:prstGeom prst="ellipse">
            <a:avLst/>
          </a:prstGeom>
          <a:solidFill>
            <a:srgbClr val="A21CAF"/>
          </a:solidFill>
          <a:ln w="12700">
            <a:solidFill>
              <a:srgbClr val="A21CAF"/>
            </a:solidFill>
            <a:prstDash val="solid"/>
          </a:ln>
        </p:spPr>
      </p:sp>
      <p:pic>
        <p:nvPicPr>
          <p:cNvPr id="8" name="Image 1" descr="preencoded.png">    </p:cNvPr>
          <p:cNvPicPr>
            <a:picLocks noChangeAspect="1"/>
          </p:cNvPicPr>
          <p:nvPr/>
        </p:nvPicPr>
        <p:blipFill>
          <a:blip r:embed="rId2"/>
          <a:stretch>
            <a:fillRect/>
          </a:stretch>
        </p:blipFill>
        <p:spPr>
          <a:xfrm>
            <a:off x="724205" y="3101645"/>
            <a:ext cx="380390" cy="380390"/>
          </a:xfrm>
          <a:prstGeom prst="rect">
            <a:avLst/>
          </a:prstGeom>
        </p:spPr>
      </p:pic>
      <p:sp>
        <p:nvSpPr>
          <p:cNvPr id="9" name="Text 5"/>
          <p:cNvSpPr txBox="1"/>
          <p:nvPr/>
        </p:nvSpPr>
        <p:spPr>
          <a:xfrm>
            <a:off x="1508760" y="2880360"/>
            <a:ext cx="5669280" cy="411480"/>
          </a:xfrm>
          <a:prstGeom prst="rect">
            <a:avLst/>
          </a:prstGeom>
          <a:noFill/>
          <a:ln/>
        </p:spPr>
        <p:txBody>
          <a:bodyPr wrap="square" lIns="0" tIns="0" rIns="0" bIns="0" rtlCol="0" anchor="ctr"/>
          <a:lstStyle/>
          <a:p>
            <a:pPr indent="0" marL="0">
              <a:buNone/>
            </a:pPr>
            <a:r>
              <a:rPr lang="en-US" sz="1900" b="1" dirty="0">
                <a:solidFill>
                  <a:srgbClr val="1C1B22"/>
                </a:solidFill>
                <a:latin typeface="Arial" pitchFamily="34" charset="0"/>
                <a:ea typeface="Arial" pitchFamily="34" charset="-122"/>
                <a:cs typeface="Arial" pitchFamily="34" charset="-120"/>
              </a:rPr>
              <a:t>Every lab processed its own way</a:t>
            </a:r>
            <a:endParaRPr lang="en-US" sz="1900" dirty="0"/>
          </a:p>
        </p:txBody>
      </p:sp>
      <p:sp>
        <p:nvSpPr>
          <p:cNvPr id="10" name="Text 6"/>
          <p:cNvSpPr txBox="1"/>
          <p:nvPr/>
        </p:nvSpPr>
        <p:spPr>
          <a:xfrm>
            <a:off x="1508760" y="3310128"/>
            <a:ext cx="5669280" cy="731520"/>
          </a:xfrm>
          <a:prstGeom prst="rect">
            <a:avLst/>
          </a:prstGeom>
          <a:noFill/>
          <a:ln/>
        </p:spPr>
        <p:txBody>
          <a:bodyPr wrap="square" lIns="0" tIns="0" rIns="0" bIns="0" rtlCol="0" anchor="t"/>
          <a:lstStyle/>
          <a:p>
            <a:pPr indent="0" marL="0">
              <a:buNone/>
            </a:pPr>
            <a:r>
              <a:rPr lang="en-US" sz="1500" dirty="0">
                <a:solidFill>
                  <a:srgbClr val="5B5968"/>
                </a:solidFill>
                <a:latin typeface="Calibri" pitchFamily="34" charset="0"/>
                <a:ea typeface="Calibri" pitchFamily="34" charset="-122"/>
                <a:cs typeface="Calibri" pitchFamily="34" charset="-120"/>
              </a:rPr>
              <a:t>Different search engines, protein databases, FDR rules and file formats. The published tables cannot be pooled.</a:t>
            </a:r>
            <a:endParaRPr lang="en-US" sz="1500" dirty="0"/>
          </a:p>
        </p:txBody>
      </p:sp>
      <p:sp>
        <p:nvSpPr>
          <p:cNvPr id="11" name="Shape 7"/>
          <p:cNvSpPr/>
          <p:nvPr/>
        </p:nvSpPr>
        <p:spPr>
          <a:xfrm>
            <a:off x="548640" y="4389120"/>
            <a:ext cx="731520" cy="731520"/>
          </a:xfrm>
          <a:prstGeom prst="ellipse">
            <a:avLst/>
          </a:prstGeom>
          <a:solidFill>
            <a:srgbClr val="4F46E5"/>
          </a:solidFill>
          <a:ln w="12700">
            <a:solidFill>
              <a:srgbClr val="4F46E5"/>
            </a:solidFill>
            <a:prstDash val="solid"/>
          </a:ln>
        </p:spPr>
      </p:sp>
      <p:pic>
        <p:nvPicPr>
          <p:cNvPr id="12" name="Image 2" descr="preencoded.png">    </p:cNvPr>
          <p:cNvPicPr>
            <a:picLocks noChangeAspect="1"/>
          </p:cNvPicPr>
          <p:nvPr/>
        </p:nvPicPr>
        <p:blipFill>
          <a:blip r:embed="rId3"/>
          <a:stretch>
            <a:fillRect/>
          </a:stretch>
        </p:blipFill>
        <p:spPr>
          <a:xfrm>
            <a:off x="724205" y="4564685"/>
            <a:ext cx="380390" cy="380390"/>
          </a:xfrm>
          <a:prstGeom prst="rect">
            <a:avLst/>
          </a:prstGeom>
        </p:spPr>
      </p:pic>
      <p:sp>
        <p:nvSpPr>
          <p:cNvPr id="13" name="Text 8"/>
          <p:cNvSpPr txBox="1"/>
          <p:nvPr/>
        </p:nvSpPr>
        <p:spPr>
          <a:xfrm>
            <a:off x="1508760" y="4343400"/>
            <a:ext cx="5669280" cy="411480"/>
          </a:xfrm>
          <a:prstGeom prst="rect">
            <a:avLst/>
          </a:prstGeom>
          <a:noFill/>
          <a:ln/>
        </p:spPr>
        <p:txBody>
          <a:bodyPr wrap="square" lIns="0" tIns="0" rIns="0" bIns="0" rtlCol="0" anchor="ctr"/>
          <a:lstStyle/>
          <a:p>
            <a:pPr indent="0" marL="0">
              <a:buNone/>
            </a:pPr>
            <a:r>
              <a:rPr lang="en-US" sz="1900" b="1" dirty="0">
                <a:solidFill>
                  <a:srgbClr val="1C1B22"/>
                </a:solidFill>
                <a:latin typeface="Arial" pitchFamily="34" charset="0"/>
                <a:ea typeface="Arial" pitchFamily="34" charset="-122"/>
                <a:cs typeface="Arial" pitchFamily="34" charset="-120"/>
              </a:rPr>
              <a:t>Genomics met this problem first</a:t>
            </a:r>
            <a:endParaRPr lang="en-US" sz="1900" dirty="0"/>
          </a:p>
        </p:txBody>
      </p:sp>
      <p:sp>
        <p:nvSpPr>
          <p:cNvPr id="14" name="Text 9"/>
          <p:cNvSpPr txBox="1"/>
          <p:nvPr/>
        </p:nvSpPr>
        <p:spPr>
          <a:xfrm>
            <a:off x="1508760" y="4773168"/>
            <a:ext cx="5669280" cy="731520"/>
          </a:xfrm>
          <a:prstGeom prst="rect">
            <a:avLst/>
          </a:prstGeom>
          <a:noFill/>
          <a:ln/>
        </p:spPr>
        <p:txBody>
          <a:bodyPr wrap="square" lIns="0" tIns="0" rIns="0" bIns="0" rtlCol="0" anchor="t"/>
          <a:lstStyle/>
          <a:p>
            <a:pPr indent="0" marL="0">
              <a:buNone/>
            </a:pPr>
            <a:r>
              <a:rPr lang="en-US" sz="1500" dirty="0">
                <a:solidFill>
                  <a:srgbClr val="5B5968"/>
                </a:solidFill>
                <a:latin typeface="Calibri" pitchFamily="34" charset="0"/>
                <a:ea typeface="Calibri" pitchFamily="34" charset="-122"/>
                <a:cs typeface="Calibri" pitchFamily="34" charset="-120"/>
              </a:rPr>
              <a:t>Uniform reprocessing of public RNA-seq (for example recount and ARCHS4) is what made thousands of experiments comparable.</a:t>
            </a:r>
            <a:endParaRPr lang="en-US" sz="1500" dirty="0"/>
          </a:p>
        </p:txBody>
      </p:sp>
      <p:sp>
        <p:nvSpPr>
          <p:cNvPr id="15" name="Shape 10"/>
          <p:cNvSpPr/>
          <p:nvPr/>
        </p:nvSpPr>
        <p:spPr>
          <a:xfrm>
            <a:off x="7680960" y="1554480"/>
            <a:ext cx="3931920" cy="4114800"/>
          </a:xfrm>
          <a:prstGeom prst="roundRect">
            <a:avLst>
              <a:gd name="adj" fmla="val 3488"/>
            </a:avLst>
          </a:prstGeom>
          <a:solidFill>
            <a:srgbClr val="EEF0FF"/>
          </a:solidFill>
          <a:ln w="12700">
            <a:solidFill>
              <a:srgbClr val="EEF0FF"/>
            </a:solidFill>
            <a:prstDash val="solid"/>
          </a:ln>
        </p:spPr>
      </p:sp>
      <p:sp>
        <p:nvSpPr>
          <p:cNvPr id="16" name="Text 11"/>
          <p:cNvSpPr txBox="1"/>
          <p:nvPr/>
        </p:nvSpPr>
        <p:spPr>
          <a:xfrm>
            <a:off x="8001000" y="1828800"/>
            <a:ext cx="3337560" cy="3566160"/>
          </a:xfrm>
          <a:prstGeom prst="rect">
            <a:avLst/>
          </a:prstGeom>
          <a:noFill/>
          <a:ln/>
        </p:spPr>
        <p:txBody>
          <a:bodyPr wrap="square" lIns="0" tIns="0" rIns="0" bIns="0" rtlCol="0" anchor="t"/>
          <a:lstStyle/>
          <a:p>
            <a:pPr indent="0" marL="0">
              <a:buNone/>
            </a:pPr>
            <a:r>
              <a:rPr lang="en-US" sz="2000" b="1" dirty="0">
                <a:solidFill>
                  <a:srgbClr val="4F46E5"/>
                </a:solidFill>
                <a:latin typeface="Arial" pitchFamily="34" charset="0"/>
                <a:ea typeface="Arial" pitchFamily="34" charset="-122"/>
                <a:cs typeface="Arial" pitchFamily="34" charset="-120"/>
              </a:rPr>
              <a:t>Our approach</a:t>
            </a:r>
            <a:endParaRPr lang="en-US" sz="2000" dirty="0"/>
          </a:p>
          <a:p>
            <a:pPr indent="0" marL="0">
              <a:buNone/>
            </a:pPr>
            <a:r>
              <a:rPr lang="en-US" sz="800" dirty="0">
                <a:solidFill>
                  <a:srgbClr val="000000"/>
                </a:solidFill>
              </a:rPr>
              <a:t> </a:t>
            </a:r>
            <a:endParaRPr lang="en-US" sz="2000" dirty="0"/>
          </a:p>
          <a:p>
            <a:pPr indent="0" marL="0">
              <a:buNone/>
            </a:pPr>
            <a:r>
              <a:rPr lang="en-US" sz="1700" dirty="0">
                <a:solidFill>
                  <a:srgbClr val="1C1B22"/>
                </a:solidFill>
                <a:latin typeface="Calibri" pitchFamily="34" charset="0"/>
                <a:ea typeface="Calibri" pitchFamily="34" charset="-122"/>
                <a:cs typeface="Calibri" pitchFamily="34" charset="-120"/>
              </a:rPr>
              <a:t>Take the raw spectra, not the authors' tables. Search every dataset with one pipeline, store every result in one format, and keep a record of how each number was made.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C1B22"/>
                </a:solidFill>
                <a:latin typeface="Arial" pitchFamily="34" charset="0"/>
                <a:ea typeface="Arial" pitchFamily="34" charset="-122"/>
                <a:cs typeface="Arial" pitchFamily="34" charset="-120"/>
              </a:rPr>
              <a:t>From raw spectra to answers, in one path</a:t>
            </a:r>
            <a:endParaRPr lang="en-US" sz="3200" dirty="0"/>
          </a:p>
        </p:txBody>
      </p:sp>
      <p:sp>
        <p:nvSpPr>
          <p:cNvPr id="3" name="Shape 1"/>
          <p:cNvSpPr/>
          <p:nvPr/>
        </p:nvSpPr>
        <p:spPr>
          <a:xfrm>
            <a:off x="548640" y="1828800"/>
            <a:ext cx="2743200" cy="3017520"/>
          </a:xfrm>
          <a:prstGeom prst="roundRect">
            <a:avLst>
              <a:gd name="adj" fmla="val 4000"/>
            </a:avLst>
          </a:prstGeom>
          <a:solidFill>
            <a:srgbClr val="F6F5FB"/>
          </a:solidFill>
          <a:ln w="12700">
            <a:solidFill>
              <a:srgbClr val="E4E1EA"/>
            </a:solidFill>
            <a:prstDash val="solid"/>
          </a:ln>
        </p:spPr>
      </p:sp>
      <p:sp>
        <p:nvSpPr>
          <p:cNvPr id="4" name="Shape 2"/>
          <p:cNvSpPr/>
          <p:nvPr/>
        </p:nvSpPr>
        <p:spPr>
          <a:xfrm>
            <a:off x="1508760" y="2103120"/>
            <a:ext cx="822960" cy="822960"/>
          </a:xfrm>
          <a:prstGeom prst="ellipse">
            <a:avLst/>
          </a:prstGeom>
          <a:solidFill>
            <a:srgbClr val="0E7490"/>
          </a:solidFill>
          <a:ln w="12700">
            <a:solidFill>
              <a:srgbClr val="0E7490"/>
            </a:solidFill>
            <a:prstDash val="solid"/>
          </a:ln>
        </p:spPr>
      </p:sp>
      <p:pic>
        <p:nvPicPr>
          <p:cNvPr id="5" name="Image 0" descr="preencoded.png">    </p:cNvPr>
          <p:cNvPicPr>
            <a:picLocks noChangeAspect="1"/>
          </p:cNvPicPr>
          <p:nvPr/>
        </p:nvPicPr>
        <p:blipFill>
          <a:blip r:embed="rId1"/>
          <a:stretch>
            <a:fillRect/>
          </a:stretch>
        </p:blipFill>
        <p:spPr>
          <a:xfrm>
            <a:off x="1706270" y="2300630"/>
            <a:ext cx="427939" cy="427939"/>
          </a:xfrm>
          <a:prstGeom prst="rect">
            <a:avLst/>
          </a:prstGeom>
        </p:spPr>
      </p:pic>
      <p:sp>
        <p:nvSpPr>
          <p:cNvPr id="6" name="Text 3"/>
          <p:cNvSpPr txBox="1"/>
          <p:nvPr/>
        </p:nvSpPr>
        <p:spPr>
          <a:xfrm>
            <a:off x="731520" y="3063240"/>
            <a:ext cx="2377440" cy="411480"/>
          </a:xfrm>
          <a:prstGeom prst="rect">
            <a:avLst/>
          </a:prstGeom>
          <a:noFill/>
          <a:ln/>
        </p:spPr>
        <p:txBody>
          <a:bodyPr wrap="square" lIns="0" tIns="0" rIns="0" bIns="0" rtlCol="0" anchor="ctr"/>
          <a:lstStyle/>
          <a:p>
            <a:pPr algn="ctr" indent="0" marL="0">
              <a:buNone/>
            </a:pPr>
            <a:r>
              <a:rPr lang="en-US" sz="1900" b="1" dirty="0">
                <a:solidFill>
                  <a:srgbClr val="1C1B22"/>
                </a:solidFill>
                <a:latin typeface="Arial" pitchFamily="34" charset="0"/>
                <a:ea typeface="Arial" pitchFamily="34" charset="-122"/>
                <a:cs typeface="Arial" pitchFamily="34" charset="-120"/>
              </a:rPr>
              <a:t>PRIDE</a:t>
            </a:r>
            <a:endParaRPr lang="en-US" sz="1900" dirty="0"/>
          </a:p>
        </p:txBody>
      </p:sp>
      <p:sp>
        <p:nvSpPr>
          <p:cNvPr id="7" name="Text 4"/>
          <p:cNvSpPr txBox="1"/>
          <p:nvPr/>
        </p:nvSpPr>
        <p:spPr>
          <a:xfrm>
            <a:off x="777240" y="3520440"/>
            <a:ext cx="2286000" cy="1188720"/>
          </a:xfrm>
          <a:prstGeom prst="rect">
            <a:avLst/>
          </a:prstGeom>
          <a:noFill/>
          <a:ln/>
        </p:spPr>
        <p:txBody>
          <a:bodyPr wrap="square" lIns="0" tIns="0" rIns="0" bIns="0" rtlCol="0" anchor="t"/>
          <a:lstStyle/>
          <a:p>
            <a:pPr algn="ctr" indent="0" marL="0">
              <a:buNone/>
            </a:pPr>
            <a:r>
              <a:rPr lang="en-US" sz="1400" dirty="0">
                <a:solidFill>
                  <a:srgbClr val="5B5968"/>
                </a:solidFill>
                <a:latin typeface="Calibri" pitchFamily="34" charset="0"/>
                <a:ea typeface="Calibri" pitchFamily="34" charset="-122"/>
                <a:cs typeface="Calibri" pitchFamily="34" charset="-120"/>
              </a:rPr>
              <a:t>Public raw spectra from aging studies</a:t>
            </a:r>
            <a:endParaRPr lang="en-US" sz="1400" dirty="0"/>
          </a:p>
        </p:txBody>
      </p:sp>
      <p:sp>
        <p:nvSpPr>
          <p:cNvPr id="8" name="Shape 5"/>
          <p:cNvSpPr/>
          <p:nvPr/>
        </p:nvSpPr>
        <p:spPr>
          <a:xfrm>
            <a:off x="3364992" y="3063240"/>
            <a:ext cx="356616" cy="411480"/>
          </a:xfrm>
          <a:prstGeom prst="rightArrow">
            <a:avLst/>
          </a:prstGeom>
          <a:solidFill>
            <a:srgbClr val="B9B7C9"/>
          </a:solidFill>
          <a:ln w="12700">
            <a:solidFill>
              <a:srgbClr val="B9B7C9"/>
            </a:solidFill>
            <a:prstDash val="solid"/>
          </a:ln>
        </p:spPr>
      </p:sp>
      <p:sp>
        <p:nvSpPr>
          <p:cNvPr id="9" name="Shape 6"/>
          <p:cNvSpPr/>
          <p:nvPr/>
        </p:nvSpPr>
        <p:spPr>
          <a:xfrm>
            <a:off x="3794760" y="1828800"/>
            <a:ext cx="2743200" cy="3017520"/>
          </a:xfrm>
          <a:prstGeom prst="roundRect">
            <a:avLst>
              <a:gd name="adj" fmla="val 4000"/>
            </a:avLst>
          </a:prstGeom>
          <a:solidFill>
            <a:srgbClr val="F6F5FB"/>
          </a:solidFill>
          <a:ln w="12700">
            <a:solidFill>
              <a:srgbClr val="E4E1EA"/>
            </a:solidFill>
            <a:prstDash val="solid"/>
          </a:ln>
        </p:spPr>
      </p:sp>
      <p:sp>
        <p:nvSpPr>
          <p:cNvPr id="10" name="Shape 7"/>
          <p:cNvSpPr/>
          <p:nvPr/>
        </p:nvSpPr>
        <p:spPr>
          <a:xfrm>
            <a:off x="4754880" y="2103120"/>
            <a:ext cx="822960" cy="822960"/>
          </a:xfrm>
          <a:prstGeom prst="ellipse">
            <a:avLst/>
          </a:prstGeom>
          <a:solidFill>
            <a:srgbClr val="4F46E5"/>
          </a:solidFill>
          <a:ln w="12700">
            <a:solidFill>
              <a:srgbClr val="4F46E5"/>
            </a:solidFill>
            <a:prstDash val="solid"/>
          </a:ln>
        </p:spPr>
      </p:sp>
      <p:pic>
        <p:nvPicPr>
          <p:cNvPr id="11" name="Image 1" descr="preencoded.png">    </p:cNvPr>
          <p:cNvPicPr>
            <a:picLocks noChangeAspect="1"/>
          </p:cNvPicPr>
          <p:nvPr/>
        </p:nvPicPr>
        <p:blipFill>
          <a:blip r:embed="rId2"/>
          <a:stretch>
            <a:fillRect/>
          </a:stretch>
        </p:blipFill>
        <p:spPr>
          <a:xfrm>
            <a:off x="4952390" y="2300630"/>
            <a:ext cx="427939" cy="427939"/>
          </a:xfrm>
          <a:prstGeom prst="rect">
            <a:avLst/>
          </a:prstGeom>
        </p:spPr>
      </p:pic>
      <p:sp>
        <p:nvSpPr>
          <p:cNvPr id="12" name="Text 8"/>
          <p:cNvSpPr txBox="1"/>
          <p:nvPr/>
        </p:nvSpPr>
        <p:spPr>
          <a:xfrm>
            <a:off x="3977640" y="3063240"/>
            <a:ext cx="2377440" cy="411480"/>
          </a:xfrm>
          <a:prstGeom prst="rect">
            <a:avLst/>
          </a:prstGeom>
          <a:noFill/>
          <a:ln/>
        </p:spPr>
        <p:txBody>
          <a:bodyPr wrap="square" lIns="0" tIns="0" rIns="0" bIns="0" rtlCol="0" anchor="ctr"/>
          <a:lstStyle/>
          <a:p>
            <a:pPr algn="ctr" indent="0" marL="0">
              <a:buNone/>
            </a:pPr>
            <a:r>
              <a:rPr lang="en-US" sz="1900" b="1" dirty="0">
                <a:solidFill>
                  <a:srgbClr val="1C1B22"/>
                </a:solidFill>
                <a:latin typeface="Arial" pitchFamily="34" charset="0"/>
                <a:ea typeface="Arial" pitchFamily="34" charset="-122"/>
                <a:cs typeface="Arial" pitchFamily="34" charset="-120"/>
              </a:rPr>
              <a:t>aging-pipeline</a:t>
            </a:r>
            <a:endParaRPr lang="en-US" sz="1900" dirty="0"/>
          </a:p>
        </p:txBody>
      </p:sp>
      <p:sp>
        <p:nvSpPr>
          <p:cNvPr id="13" name="Text 9"/>
          <p:cNvSpPr txBox="1"/>
          <p:nvPr/>
        </p:nvSpPr>
        <p:spPr>
          <a:xfrm>
            <a:off x="4023360" y="3520440"/>
            <a:ext cx="2286000" cy="1188720"/>
          </a:xfrm>
          <a:prstGeom prst="rect">
            <a:avLst/>
          </a:prstGeom>
          <a:noFill/>
          <a:ln/>
        </p:spPr>
        <p:txBody>
          <a:bodyPr wrap="square" lIns="0" tIns="0" rIns="0" bIns="0" rtlCol="0" anchor="t"/>
          <a:lstStyle/>
          <a:p>
            <a:pPr algn="ctr" indent="0" marL="0">
              <a:buNone/>
            </a:pPr>
            <a:r>
              <a:rPr lang="en-US" sz="1400" dirty="0">
                <a:solidFill>
                  <a:srgbClr val="5B5968"/>
                </a:solidFill>
                <a:latin typeface="Calibri" pitchFamily="34" charset="0"/>
                <a:ea typeface="Calibri" pitchFamily="34" charset="-122"/>
                <a:cs typeface="Calibri" pitchFamily="34" charset="-120"/>
              </a:rPr>
              <a:t>One search for all: MetaMorpheus with GPTMD to discover PTMs, FlashLFQ to quantify</a:t>
            </a:r>
            <a:endParaRPr lang="en-US" sz="1400" dirty="0"/>
          </a:p>
        </p:txBody>
      </p:sp>
      <p:sp>
        <p:nvSpPr>
          <p:cNvPr id="14" name="Shape 10"/>
          <p:cNvSpPr/>
          <p:nvPr/>
        </p:nvSpPr>
        <p:spPr>
          <a:xfrm>
            <a:off x="6611112" y="3063240"/>
            <a:ext cx="356616" cy="411480"/>
          </a:xfrm>
          <a:prstGeom prst="rightArrow">
            <a:avLst/>
          </a:prstGeom>
          <a:solidFill>
            <a:srgbClr val="B9B7C9"/>
          </a:solidFill>
          <a:ln w="12700">
            <a:solidFill>
              <a:srgbClr val="B9B7C9"/>
            </a:solidFill>
            <a:prstDash val="solid"/>
          </a:ln>
        </p:spPr>
      </p:sp>
      <p:sp>
        <p:nvSpPr>
          <p:cNvPr id="15" name="Shape 11"/>
          <p:cNvSpPr/>
          <p:nvPr/>
        </p:nvSpPr>
        <p:spPr>
          <a:xfrm>
            <a:off x="7040880" y="1828800"/>
            <a:ext cx="2743200" cy="3017520"/>
          </a:xfrm>
          <a:prstGeom prst="roundRect">
            <a:avLst>
              <a:gd name="adj" fmla="val 4000"/>
            </a:avLst>
          </a:prstGeom>
          <a:solidFill>
            <a:srgbClr val="F6F5FB"/>
          </a:solidFill>
          <a:ln w="12700">
            <a:solidFill>
              <a:srgbClr val="E4E1EA"/>
            </a:solidFill>
            <a:prstDash val="solid"/>
          </a:ln>
        </p:spPr>
      </p:sp>
      <p:sp>
        <p:nvSpPr>
          <p:cNvPr id="16" name="Shape 12"/>
          <p:cNvSpPr/>
          <p:nvPr/>
        </p:nvSpPr>
        <p:spPr>
          <a:xfrm>
            <a:off x="8001000" y="2103120"/>
            <a:ext cx="822960" cy="822960"/>
          </a:xfrm>
          <a:prstGeom prst="ellipse">
            <a:avLst/>
          </a:prstGeom>
          <a:solidFill>
            <a:srgbClr val="A21CAF"/>
          </a:solidFill>
          <a:ln w="12700">
            <a:solidFill>
              <a:srgbClr val="A21CAF"/>
            </a:solidFill>
            <a:prstDash val="solid"/>
          </a:ln>
        </p:spPr>
      </p:sp>
      <p:pic>
        <p:nvPicPr>
          <p:cNvPr id="17" name="Image 2" descr="preencoded.png">    </p:cNvPr>
          <p:cNvPicPr>
            <a:picLocks noChangeAspect="1"/>
          </p:cNvPicPr>
          <p:nvPr/>
        </p:nvPicPr>
        <p:blipFill>
          <a:blip r:embed="rId3"/>
          <a:stretch>
            <a:fillRect/>
          </a:stretch>
        </p:blipFill>
        <p:spPr>
          <a:xfrm>
            <a:off x="8198510" y="2300630"/>
            <a:ext cx="427939" cy="427939"/>
          </a:xfrm>
          <a:prstGeom prst="rect">
            <a:avLst/>
          </a:prstGeom>
        </p:spPr>
      </p:pic>
      <p:sp>
        <p:nvSpPr>
          <p:cNvPr id="18" name="Text 13"/>
          <p:cNvSpPr txBox="1"/>
          <p:nvPr/>
        </p:nvSpPr>
        <p:spPr>
          <a:xfrm>
            <a:off x="7223760" y="3063240"/>
            <a:ext cx="2377440" cy="411480"/>
          </a:xfrm>
          <a:prstGeom prst="rect">
            <a:avLst/>
          </a:prstGeom>
          <a:noFill/>
          <a:ln/>
        </p:spPr>
        <p:txBody>
          <a:bodyPr wrap="square" lIns="0" tIns="0" rIns="0" bIns="0" rtlCol="0" anchor="ctr"/>
          <a:lstStyle/>
          <a:p>
            <a:pPr algn="ctr" indent="0" marL="0">
              <a:buNone/>
            </a:pPr>
            <a:r>
              <a:rPr lang="en-US" sz="1900" b="1" dirty="0">
                <a:solidFill>
                  <a:srgbClr val="1C1B22"/>
                </a:solidFill>
                <a:latin typeface="Arial" pitchFamily="34" charset="0"/>
                <a:ea typeface="Arial" pitchFamily="34" charset="-122"/>
                <a:cs typeface="Arial" pitchFamily="34" charset="-120"/>
              </a:rPr>
              <a:t>dataRepo</a:t>
            </a:r>
            <a:endParaRPr lang="en-US" sz="1900" dirty="0"/>
          </a:p>
        </p:txBody>
      </p:sp>
      <p:sp>
        <p:nvSpPr>
          <p:cNvPr id="19" name="Text 14"/>
          <p:cNvSpPr txBox="1"/>
          <p:nvPr/>
        </p:nvSpPr>
        <p:spPr>
          <a:xfrm>
            <a:off x="7269480" y="3520440"/>
            <a:ext cx="2286000" cy="1188720"/>
          </a:xfrm>
          <a:prstGeom prst="rect">
            <a:avLst/>
          </a:prstGeom>
          <a:noFill/>
          <a:ln/>
        </p:spPr>
        <p:txBody>
          <a:bodyPr wrap="square" lIns="0" tIns="0" rIns="0" bIns="0" rtlCol="0" anchor="t"/>
          <a:lstStyle/>
          <a:p>
            <a:pPr algn="ctr" indent="0" marL="0">
              <a:buNone/>
            </a:pPr>
            <a:r>
              <a:rPr lang="en-US" sz="1400" dirty="0">
                <a:solidFill>
                  <a:srgbClr val="5B5968"/>
                </a:solidFill>
                <a:latin typeface="Calibri" pitchFamily="34" charset="0"/>
                <a:ea typeface="Calibri" pitchFamily="34" charset="-122"/>
                <a:cs typeface="Calibri" pitchFamily="34" charset="-120"/>
              </a:rPr>
              <a:t>One schema, versioned files, every count checked against the search engine's own</a:t>
            </a:r>
            <a:endParaRPr lang="en-US" sz="1400" dirty="0"/>
          </a:p>
        </p:txBody>
      </p:sp>
      <p:sp>
        <p:nvSpPr>
          <p:cNvPr id="20" name="Shape 15"/>
          <p:cNvSpPr/>
          <p:nvPr/>
        </p:nvSpPr>
        <p:spPr>
          <a:xfrm>
            <a:off x="9857232" y="3063240"/>
            <a:ext cx="356616" cy="411480"/>
          </a:xfrm>
          <a:prstGeom prst="rightArrow">
            <a:avLst/>
          </a:prstGeom>
          <a:solidFill>
            <a:srgbClr val="B9B7C9"/>
          </a:solidFill>
          <a:ln w="12700">
            <a:solidFill>
              <a:srgbClr val="B9B7C9"/>
            </a:solidFill>
            <a:prstDash val="solid"/>
          </a:ln>
        </p:spPr>
      </p:sp>
      <p:sp>
        <p:nvSpPr>
          <p:cNvPr id="21" name="Shape 16"/>
          <p:cNvSpPr/>
          <p:nvPr/>
        </p:nvSpPr>
        <p:spPr>
          <a:xfrm>
            <a:off x="10287000" y="1783080"/>
            <a:ext cx="685800" cy="685800"/>
          </a:xfrm>
          <a:prstGeom prst="ellipse">
            <a:avLst/>
          </a:prstGeom>
          <a:solidFill>
            <a:srgbClr val="0E7490"/>
          </a:solidFill>
          <a:ln w="12700">
            <a:solidFill>
              <a:srgbClr val="0E7490"/>
            </a:solidFill>
            <a:prstDash val="solid"/>
          </a:ln>
        </p:spPr>
      </p:sp>
      <p:pic>
        <p:nvPicPr>
          <p:cNvPr id="22" name="Image 3" descr="preencoded.png">    </p:cNvPr>
          <p:cNvPicPr>
            <a:picLocks noChangeAspect="1"/>
          </p:cNvPicPr>
          <p:nvPr/>
        </p:nvPicPr>
        <p:blipFill>
          <a:blip r:embed="rId4"/>
          <a:stretch>
            <a:fillRect/>
          </a:stretch>
        </p:blipFill>
        <p:spPr>
          <a:xfrm>
            <a:off x="10451592" y="1947672"/>
            <a:ext cx="356616" cy="356616"/>
          </a:xfrm>
          <a:prstGeom prst="rect">
            <a:avLst/>
          </a:prstGeom>
        </p:spPr>
      </p:pic>
      <p:sp>
        <p:nvSpPr>
          <p:cNvPr id="23" name="Text 17"/>
          <p:cNvSpPr txBox="1"/>
          <p:nvPr/>
        </p:nvSpPr>
        <p:spPr>
          <a:xfrm>
            <a:off x="11109960" y="1783080"/>
            <a:ext cx="1737360" cy="731520"/>
          </a:xfrm>
          <a:prstGeom prst="rect">
            <a:avLst/>
          </a:prstGeom>
          <a:noFill/>
          <a:ln/>
        </p:spPr>
        <p:txBody>
          <a:bodyPr wrap="square" lIns="0" tIns="0" rIns="0" bIns="0" rtlCol="0" anchor="ctr"/>
          <a:lstStyle/>
          <a:p>
            <a:pPr indent="0" marL="0">
              <a:buNone/>
            </a:pPr>
            <a:r>
              <a:rPr lang="en-US" sz="1700" b="1" dirty="0">
                <a:solidFill>
                  <a:srgbClr val="1C1B22"/>
                </a:solidFill>
                <a:latin typeface="Arial" pitchFamily="34" charset="0"/>
                <a:ea typeface="Arial" pitchFamily="34" charset="-122"/>
                <a:cs typeface="Arial" pitchFamily="34" charset="-120"/>
              </a:rPr>
              <a:t>Website</a:t>
            </a:r>
            <a:endParaRPr lang="en-US" sz="1700" dirty="0"/>
          </a:p>
          <a:p>
            <a:pPr indent="0" marL="0">
              <a:buNone/>
            </a:pPr>
            <a:r>
              <a:rPr lang="en-US" sz="1400" dirty="0">
                <a:solidFill>
                  <a:srgbClr val="5B5968"/>
                </a:solidFill>
                <a:latin typeface="Calibri" pitchFamily="34" charset="0"/>
                <a:ea typeface="Calibri" pitchFamily="34" charset="-122"/>
                <a:cs typeface="Calibri" pitchFamily="34" charset="-120"/>
              </a:rPr>
              <a:t>for people</a:t>
            </a:r>
            <a:endParaRPr lang="en-US" sz="1700" dirty="0"/>
          </a:p>
        </p:txBody>
      </p:sp>
      <p:sp>
        <p:nvSpPr>
          <p:cNvPr id="24" name="Shape 18"/>
          <p:cNvSpPr/>
          <p:nvPr/>
        </p:nvSpPr>
        <p:spPr>
          <a:xfrm>
            <a:off x="10287000" y="2834640"/>
            <a:ext cx="685800" cy="685800"/>
          </a:xfrm>
          <a:prstGeom prst="ellipse">
            <a:avLst/>
          </a:prstGeom>
          <a:solidFill>
            <a:srgbClr val="4F46E5"/>
          </a:solidFill>
          <a:ln w="12700">
            <a:solidFill>
              <a:srgbClr val="4F46E5"/>
            </a:solidFill>
            <a:prstDash val="solid"/>
          </a:ln>
        </p:spPr>
      </p:sp>
      <p:pic>
        <p:nvPicPr>
          <p:cNvPr id="25" name="Image 4" descr="preencoded.png">    </p:cNvPr>
          <p:cNvPicPr>
            <a:picLocks noChangeAspect="1"/>
          </p:cNvPicPr>
          <p:nvPr/>
        </p:nvPicPr>
        <p:blipFill>
          <a:blip r:embed="rId5"/>
          <a:stretch>
            <a:fillRect/>
          </a:stretch>
        </p:blipFill>
        <p:spPr>
          <a:xfrm>
            <a:off x="10451592" y="2999232"/>
            <a:ext cx="356616" cy="356616"/>
          </a:xfrm>
          <a:prstGeom prst="rect">
            <a:avLst/>
          </a:prstGeom>
        </p:spPr>
      </p:pic>
      <p:sp>
        <p:nvSpPr>
          <p:cNvPr id="26" name="Text 19"/>
          <p:cNvSpPr txBox="1"/>
          <p:nvPr/>
        </p:nvSpPr>
        <p:spPr>
          <a:xfrm>
            <a:off x="11109960" y="2834640"/>
            <a:ext cx="1737360" cy="731520"/>
          </a:xfrm>
          <a:prstGeom prst="rect">
            <a:avLst/>
          </a:prstGeom>
          <a:noFill/>
          <a:ln/>
        </p:spPr>
        <p:txBody>
          <a:bodyPr wrap="square" lIns="0" tIns="0" rIns="0" bIns="0" rtlCol="0" anchor="ctr"/>
          <a:lstStyle/>
          <a:p>
            <a:pPr indent="0" marL="0">
              <a:buNone/>
            </a:pPr>
            <a:r>
              <a:rPr lang="en-US" sz="1700" b="1" dirty="0">
                <a:solidFill>
                  <a:srgbClr val="1C1B22"/>
                </a:solidFill>
                <a:latin typeface="Arial" pitchFamily="34" charset="0"/>
                <a:ea typeface="Arial" pitchFamily="34" charset="-122"/>
                <a:cs typeface="Arial" pitchFamily="34" charset="-120"/>
              </a:rPr>
              <a:t>AI agents</a:t>
            </a:r>
            <a:endParaRPr lang="en-US" sz="1700" dirty="0"/>
          </a:p>
          <a:p>
            <a:pPr indent="0" marL="0">
              <a:buNone/>
            </a:pPr>
            <a:r>
              <a:rPr lang="en-US" sz="1400" dirty="0">
                <a:solidFill>
                  <a:srgbClr val="5B5968"/>
                </a:solidFill>
                <a:latin typeface="Calibri" pitchFamily="34" charset="0"/>
                <a:ea typeface="Calibri" pitchFamily="34" charset="-122"/>
                <a:cs typeface="Calibri" pitchFamily="34" charset="-120"/>
              </a:rPr>
              <a:t>ask in plain language</a:t>
            </a:r>
            <a:endParaRPr lang="en-US" sz="1700" dirty="0"/>
          </a:p>
        </p:txBody>
      </p:sp>
      <p:sp>
        <p:nvSpPr>
          <p:cNvPr id="27" name="Shape 20"/>
          <p:cNvSpPr/>
          <p:nvPr/>
        </p:nvSpPr>
        <p:spPr>
          <a:xfrm>
            <a:off x="10287000" y="3886200"/>
            <a:ext cx="685800" cy="685800"/>
          </a:xfrm>
          <a:prstGeom prst="ellipse">
            <a:avLst/>
          </a:prstGeom>
          <a:solidFill>
            <a:srgbClr val="D97706"/>
          </a:solidFill>
          <a:ln w="12700">
            <a:solidFill>
              <a:srgbClr val="D97706"/>
            </a:solidFill>
            <a:prstDash val="solid"/>
          </a:ln>
        </p:spPr>
      </p:sp>
      <p:pic>
        <p:nvPicPr>
          <p:cNvPr id="28" name="Image 5" descr="preencoded.png">    </p:cNvPr>
          <p:cNvPicPr>
            <a:picLocks noChangeAspect="1"/>
          </p:cNvPicPr>
          <p:nvPr/>
        </p:nvPicPr>
        <p:blipFill>
          <a:blip r:embed="rId6"/>
          <a:stretch>
            <a:fillRect/>
          </a:stretch>
        </p:blipFill>
        <p:spPr>
          <a:xfrm>
            <a:off x="10451592" y="4050792"/>
            <a:ext cx="356616" cy="356616"/>
          </a:xfrm>
          <a:prstGeom prst="rect">
            <a:avLst/>
          </a:prstGeom>
        </p:spPr>
      </p:pic>
      <p:sp>
        <p:nvSpPr>
          <p:cNvPr id="29" name="Text 21"/>
          <p:cNvSpPr txBox="1"/>
          <p:nvPr/>
        </p:nvSpPr>
        <p:spPr>
          <a:xfrm>
            <a:off x="11109960" y="3886200"/>
            <a:ext cx="1737360" cy="731520"/>
          </a:xfrm>
          <a:prstGeom prst="rect">
            <a:avLst/>
          </a:prstGeom>
          <a:noFill/>
          <a:ln/>
        </p:spPr>
        <p:txBody>
          <a:bodyPr wrap="square" lIns="0" tIns="0" rIns="0" bIns="0" rtlCol="0" anchor="ctr"/>
          <a:lstStyle/>
          <a:p>
            <a:pPr indent="0" marL="0">
              <a:buNone/>
            </a:pPr>
            <a:r>
              <a:rPr lang="en-US" sz="1700" b="1" dirty="0">
                <a:solidFill>
                  <a:srgbClr val="1C1B22"/>
                </a:solidFill>
                <a:latin typeface="Arial" pitchFamily="34" charset="0"/>
                <a:ea typeface="Arial" pitchFamily="34" charset="-122"/>
                <a:cs typeface="Arial" pitchFamily="34" charset="-120"/>
              </a:rPr>
              <a:t>Bulk files</a:t>
            </a:r>
            <a:endParaRPr lang="en-US" sz="1700" dirty="0"/>
          </a:p>
          <a:p>
            <a:pPr indent="0" marL="0">
              <a:buNone/>
            </a:pPr>
            <a:r>
              <a:rPr lang="en-US" sz="1400" dirty="0">
                <a:solidFill>
                  <a:srgbClr val="5B5968"/>
                </a:solidFill>
                <a:latin typeface="Calibri" pitchFamily="34" charset="0"/>
                <a:ea typeface="Calibri" pitchFamily="34" charset="-122"/>
                <a:cs typeface="Calibri" pitchFamily="34" charset="-120"/>
              </a:rPr>
              <a:t>for your own analysis</a:t>
            </a:r>
            <a:endParaRPr lang="en-US" sz="1700" dirty="0"/>
          </a:p>
        </p:txBody>
      </p:sp>
      <p:sp>
        <p:nvSpPr>
          <p:cNvPr id="30" name="Text 22"/>
          <p:cNvSpPr txBox="1"/>
          <p:nvPr/>
        </p:nvSpPr>
        <p:spPr>
          <a:xfrm>
            <a:off x="548640" y="5349240"/>
            <a:ext cx="11064240" cy="457200"/>
          </a:xfrm>
          <a:prstGeom prst="rect">
            <a:avLst/>
          </a:prstGeom>
          <a:noFill/>
          <a:ln/>
        </p:spPr>
        <p:txBody>
          <a:bodyPr wrap="square" lIns="0" tIns="0" rIns="0" bIns="0" rtlCol="0" anchor="ctr"/>
          <a:lstStyle/>
          <a:p>
            <a:pPr indent="0" marL="0">
              <a:buNone/>
            </a:pPr>
            <a:r>
              <a:rPr lang="en-US" sz="1600" i="1" dirty="0">
                <a:solidFill>
                  <a:srgbClr val="4F46E5"/>
                </a:solidFill>
                <a:latin typeface="Calibri" pitchFamily="34" charset="0"/>
                <a:ea typeface="Calibri" pitchFamily="34" charset="-122"/>
                <a:cs typeface="Calibri" pitchFamily="34" charset="-120"/>
              </a:rPr>
              <a:t>dataRepo never re-runs a search. It stores, checks and serves what the pipeline produced.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C1B22"/>
                </a:solidFill>
                <a:latin typeface="Arial" pitchFamily="34" charset="0"/>
                <a:ea typeface="Arial" pitchFamily="34" charset="-122"/>
                <a:cs typeface="Arial" pitchFamily="34" charset="-120"/>
              </a:rPr>
              <a:t>What it holds, down to the residue</a:t>
            </a:r>
            <a:endParaRPr lang="en-US" sz="3200" dirty="0"/>
          </a:p>
        </p:txBody>
      </p:sp>
      <p:sp>
        <p:nvSpPr>
          <p:cNvPr id="3" name="Shape 1"/>
          <p:cNvSpPr/>
          <p:nvPr/>
        </p:nvSpPr>
        <p:spPr>
          <a:xfrm>
            <a:off x="548640" y="1371600"/>
            <a:ext cx="3520440" cy="1783080"/>
          </a:xfrm>
          <a:prstGeom prst="roundRect">
            <a:avLst>
              <a:gd name="adj" fmla="val 5128"/>
            </a:avLst>
          </a:prstGeom>
          <a:solidFill>
            <a:srgbClr val="F6F5FB"/>
          </a:solidFill>
          <a:ln w="12700">
            <a:solidFill>
              <a:srgbClr val="E4E1EA"/>
            </a:solidFill>
            <a:prstDash val="solid"/>
          </a:ln>
        </p:spPr>
      </p:sp>
      <p:sp>
        <p:nvSpPr>
          <p:cNvPr id="4" name="Shape 2"/>
          <p:cNvSpPr/>
          <p:nvPr/>
        </p:nvSpPr>
        <p:spPr>
          <a:xfrm>
            <a:off x="777240" y="1645920"/>
            <a:ext cx="594360" cy="594360"/>
          </a:xfrm>
          <a:prstGeom prst="ellipse">
            <a:avLst/>
          </a:prstGeom>
          <a:solidFill>
            <a:srgbClr val="0E7490"/>
          </a:solidFill>
          <a:ln w="12700">
            <a:solidFill>
              <a:srgbClr val="0E7490"/>
            </a:solidFill>
            <a:prstDash val="solid"/>
          </a:ln>
        </p:spPr>
      </p:sp>
      <p:pic>
        <p:nvPicPr>
          <p:cNvPr id="5" name="Image 0" descr="preencoded.png">    </p:cNvPr>
          <p:cNvPicPr>
            <a:picLocks noChangeAspect="1"/>
          </p:cNvPicPr>
          <p:nvPr/>
        </p:nvPicPr>
        <p:blipFill>
          <a:blip r:embed="rId1"/>
          <a:stretch>
            <a:fillRect/>
          </a:stretch>
        </p:blipFill>
        <p:spPr>
          <a:xfrm>
            <a:off x="919886" y="1788566"/>
            <a:ext cx="309067" cy="309067"/>
          </a:xfrm>
          <a:prstGeom prst="rect">
            <a:avLst/>
          </a:prstGeom>
        </p:spPr>
      </p:pic>
      <p:sp>
        <p:nvSpPr>
          <p:cNvPr id="6" name="Text 3"/>
          <p:cNvSpPr txBox="1"/>
          <p:nvPr/>
        </p:nvSpPr>
        <p:spPr>
          <a:xfrm>
            <a:off x="1508760" y="1645920"/>
            <a:ext cx="2377440" cy="594360"/>
          </a:xfrm>
          <a:prstGeom prst="rect">
            <a:avLst/>
          </a:prstGeom>
          <a:noFill/>
          <a:ln/>
        </p:spPr>
        <p:txBody>
          <a:bodyPr wrap="square" lIns="0" tIns="0" rIns="0" bIns="0" rtlCol="0" anchor="ctr"/>
          <a:lstStyle/>
          <a:p>
            <a:pPr indent="0" marL="0">
              <a:buNone/>
            </a:pPr>
            <a:r>
              <a:rPr lang="en-US" sz="1700" b="1" dirty="0">
                <a:solidFill>
                  <a:srgbClr val="1C1B22"/>
                </a:solidFill>
                <a:latin typeface="Arial" pitchFamily="34" charset="0"/>
                <a:ea typeface="Arial" pitchFamily="34" charset="-122"/>
                <a:cs typeface="Arial" pitchFamily="34" charset="-120"/>
              </a:rPr>
              <a:t>Spectrum matches</a:t>
            </a:r>
            <a:endParaRPr lang="en-US" sz="1700" dirty="0"/>
          </a:p>
        </p:txBody>
      </p:sp>
      <p:sp>
        <p:nvSpPr>
          <p:cNvPr id="7" name="Text 4"/>
          <p:cNvSpPr txBox="1"/>
          <p:nvPr/>
        </p:nvSpPr>
        <p:spPr>
          <a:xfrm>
            <a:off x="777240" y="2331720"/>
            <a:ext cx="3063240" cy="731520"/>
          </a:xfrm>
          <a:prstGeom prst="rect">
            <a:avLst/>
          </a:prstGeom>
          <a:noFill/>
          <a:ln/>
        </p:spPr>
        <p:txBody>
          <a:bodyPr wrap="square" lIns="0" tIns="0" rIns="0" bIns="0" rtlCol="0" anchor="t"/>
          <a:lstStyle/>
          <a:p>
            <a:pPr indent="0" marL="0">
              <a:buNone/>
            </a:pPr>
            <a:r>
              <a:rPr lang="en-US" sz="1350" dirty="0">
                <a:solidFill>
                  <a:srgbClr val="5B5968"/>
                </a:solidFill>
                <a:latin typeface="Calibri" pitchFamily="34" charset="0"/>
                <a:ea typeface="Calibri" pitchFamily="34" charset="-122"/>
                <a:cs typeface="Calibri" pitchFamily="34" charset="-120"/>
              </a:rPr>
              <a:t>Every identification, with a universal spectrum identifier that points back to the exact scan.</a:t>
            </a:r>
            <a:endParaRPr lang="en-US" sz="1350" dirty="0"/>
          </a:p>
        </p:txBody>
      </p:sp>
      <p:sp>
        <p:nvSpPr>
          <p:cNvPr id="8" name="Shape 5"/>
          <p:cNvSpPr/>
          <p:nvPr/>
        </p:nvSpPr>
        <p:spPr>
          <a:xfrm>
            <a:off x="4343400" y="1371600"/>
            <a:ext cx="3520440" cy="1783080"/>
          </a:xfrm>
          <a:prstGeom prst="roundRect">
            <a:avLst>
              <a:gd name="adj" fmla="val 5128"/>
            </a:avLst>
          </a:prstGeom>
          <a:solidFill>
            <a:srgbClr val="F6F5FB"/>
          </a:solidFill>
          <a:ln w="12700">
            <a:solidFill>
              <a:srgbClr val="E4E1EA"/>
            </a:solidFill>
            <a:prstDash val="solid"/>
          </a:ln>
        </p:spPr>
      </p:sp>
      <p:sp>
        <p:nvSpPr>
          <p:cNvPr id="9" name="Shape 6"/>
          <p:cNvSpPr/>
          <p:nvPr/>
        </p:nvSpPr>
        <p:spPr>
          <a:xfrm>
            <a:off x="4572000" y="1645920"/>
            <a:ext cx="594360" cy="59436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2"/>
          <a:stretch>
            <a:fillRect/>
          </a:stretch>
        </p:blipFill>
        <p:spPr>
          <a:xfrm>
            <a:off x="4714646" y="1788566"/>
            <a:ext cx="309067" cy="309067"/>
          </a:xfrm>
          <a:prstGeom prst="rect">
            <a:avLst/>
          </a:prstGeom>
        </p:spPr>
      </p:pic>
      <p:sp>
        <p:nvSpPr>
          <p:cNvPr id="11" name="Text 7"/>
          <p:cNvSpPr txBox="1"/>
          <p:nvPr/>
        </p:nvSpPr>
        <p:spPr>
          <a:xfrm>
            <a:off x="5303520" y="1645920"/>
            <a:ext cx="2377440" cy="594360"/>
          </a:xfrm>
          <a:prstGeom prst="rect">
            <a:avLst/>
          </a:prstGeom>
          <a:noFill/>
          <a:ln/>
        </p:spPr>
        <p:txBody>
          <a:bodyPr wrap="square" lIns="0" tIns="0" rIns="0" bIns="0" rtlCol="0" anchor="ctr"/>
          <a:lstStyle/>
          <a:p>
            <a:pPr indent="0" marL="0">
              <a:buNone/>
            </a:pPr>
            <a:r>
              <a:rPr lang="en-US" sz="1700" b="1" dirty="0">
                <a:solidFill>
                  <a:srgbClr val="1C1B22"/>
                </a:solidFill>
                <a:latin typeface="Arial" pitchFamily="34" charset="0"/>
                <a:ea typeface="Arial" pitchFamily="34" charset="-122"/>
                <a:cs typeface="Arial" pitchFamily="34" charset="-120"/>
              </a:rPr>
              <a:t>Peptidoforms</a:t>
            </a:r>
            <a:endParaRPr lang="en-US" sz="1700" dirty="0"/>
          </a:p>
        </p:txBody>
      </p:sp>
      <p:sp>
        <p:nvSpPr>
          <p:cNvPr id="12" name="Text 8"/>
          <p:cNvSpPr txBox="1"/>
          <p:nvPr/>
        </p:nvSpPr>
        <p:spPr>
          <a:xfrm>
            <a:off x="4572000" y="2331720"/>
            <a:ext cx="3063240" cy="731520"/>
          </a:xfrm>
          <a:prstGeom prst="rect">
            <a:avLst/>
          </a:prstGeom>
          <a:noFill/>
          <a:ln/>
        </p:spPr>
        <p:txBody>
          <a:bodyPr wrap="square" lIns="0" tIns="0" rIns="0" bIns="0" rtlCol="0" anchor="t"/>
          <a:lstStyle/>
          <a:p>
            <a:pPr indent="0" marL="0">
              <a:buNone/>
            </a:pPr>
            <a:r>
              <a:rPr lang="en-US" sz="1350" dirty="0">
                <a:solidFill>
                  <a:srgbClr val="5B5968"/>
                </a:solidFill>
                <a:latin typeface="Calibri" pitchFamily="34" charset="0"/>
                <a:ea typeface="Calibri" pitchFamily="34" charset="-122"/>
                <a:cs typeface="Calibri" pitchFamily="34" charset="-120"/>
              </a:rPr>
              <a:t>Modified peptides written in the ProForma standard, so a modification is part of the sequence.</a:t>
            </a:r>
            <a:endParaRPr lang="en-US" sz="1350" dirty="0"/>
          </a:p>
        </p:txBody>
      </p:sp>
      <p:sp>
        <p:nvSpPr>
          <p:cNvPr id="13" name="Shape 9"/>
          <p:cNvSpPr/>
          <p:nvPr/>
        </p:nvSpPr>
        <p:spPr>
          <a:xfrm>
            <a:off x="8138160" y="1371600"/>
            <a:ext cx="3520440" cy="1783080"/>
          </a:xfrm>
          <a:prstGeom prst="roundRect">
            <a:avLst>
              <a:gd name="adj" fmla="val 5128"/>
            </a:avLst>
          </a:prstGeom>
          <a:solidFill>
            <a:srgbClr val="F6F5FB"/>
          </a:solidFill>
          <a:ln w="12700">
            <a:solidFill>
              <a:srgbClr val="E4E1EA"/>
            </a:solidFill>
            <a:prstDash val="solid"/>
          </a:ln>
        </p:spPr>
      </p:sp>
      <p:sp>
        <p:nvSpPr>
          <p:cNvPr id="14" name="Shape 10"/>
          <p:cNvSpPr/>
          <p:nvPr/>
        </p:nvSpPr>
        <p:spPr>
          <a:xfrm>
            <a:off x="8366760" y="1645920"/>
            <a:ext cx="594360" cy="594360"/>
          </a:xfrm>
          <a:prstGeom prst="ellipse">
            <a:avLst/>
          </a:prstGeom>
          <a:solidFill>
            <a:srgbClr val="A21CAF"/>
          </a:solidFill>
          <a:ln w="12700">
            <a:solidFill>
              <a:srgbClr val="A21CAF"/>
            </a:solidFill>
            <a:prstDash val="solid"/>
          </a:ln>
        </p:spPr>
      </p:sp>
      <p:pic>
        <p:nvPicPr>
          <p:cNvPr id="15" name="Image 2" descr="preencoded.png">    </p:cNvPr>
          <p:cNvPicPr>
            <a:picLocks noChangeAspect="1"/>
          </p:cNvPicPr>
          <p:nvPr/>
        </p:nvPicPr>
        <p:blipFill>
          <a:blip r:embed="rId3"/>
          <a:stretch>
            <a:fillRect/>
          </a:stretch>
        </p:blipFill>
        <p:spPr>
          <a:xfrm>
            <a:off x="8509406" y="1788566"/>
            <a:ext cx="309067" cy="309067"/>
          </a:xfrm>
          <a:prstGeom prst="rect">
            <a:avLst/>
          </a:prstGeom>
        </p:spPr>
      </p:pic>
      <p:sp>
        <p:nvSpPr>
          <p:cNvPr id="16" name="Text 11"/>
          <p:cNvSpPr txBox="1"/>
          <p:nvPr/>
        </p:nvSpPr>
        <p:spPr>
          <a:xfrm>
            <a:off x="9098280" y="1645920"/>
            <a:ext cx="2377440" cy="594360"/>
          </a:xfrm>
          <a:prstGeom prst="rect">
            <a:avLst/>
          </a:prstGeom>
          <a:noFill/>
          <a:ln/>
        </p:spPr>
        <p:txBody>
          <a:bodyPr wrap="square" lIns="0" tIns="0" rIns="0" bIns="0" rtlCol="0" anchor="ctr"/>
          <a:lstStyle/>
          <a:p>
            <a:pPr indent="0" marL="0">
              <a:buNone/>
            </a:pPr>
            <a:r>
              <a:rPr lang="en-US" sz="1700" b="1" dirty="0">
                <a:solidFill>
                  <a:srgbClr val="1C1B22"/>
                </a:solidFill>
                <a:latin typeface="Arial" pitchFamily="34" charset="0"/>
                <a:ea typeface="Arial" pitchFamily="34" charset="-122"/>
                <a:cs typeface="Arial" pitchFamily="34" charset="-120"/>
              </a:rPr>
              <a:t>Protein groups</a:t>
            </a:r>
            <a:endParaRPr lang="en-US" sz="1700" dirty="0"/>
          </a:p>
        </p:txBody>
      </p:sp>
      <p:sp>
        <p:nvSpPr>
          <p:cNvPr id="17" name="Text 12"/>
          <p:cNvSpPr txBox="1"/>
          <p:nvPr/>
        </p:nvSpPr>
        <p:spPr>
          <a:xfrm>
            <a:off x="8366760" y="2331720"/>
            <a:ext cx="3063240" cy="731520"/>
          </a:xfrm>
          <a:prstGeom prst="rect">
            <a:avLst/>
          </a:prstGeom>
          <a:noFill/>
          <a:ln/>
        </p:spPr>
        <p:txBody>
          <a:bodyPr wrap="square" lIns="0" tIns="0" rIns="0" bIns="0" rtlCol="0" anchor="t"/>
          <a:lstStyle/>
          <a:p>
            <a:pPr indent="0" marL="0">
              <a:buNone/>
            </a:pPr>
            <a:r>
              <a:rPr lang="en-US" sz="1350" dirty="0">
                <a:solidFill>
                  <a:srgbClr val="5B5968"/>
                </a:solidFill>
                <a:latin typeface="Calibri" pitchFamily="34" charset="0"/>
                <a:ea typeface="Calibri" pitchFamily="34" charset="-122"/>
                <a:cs typeface="Calibri" pitchFamily="34" charset="-120"/>
              </a:rPr>
              <a:t>Ambiguity is kept, not hidden: shared peptides stay shared.</a:t>
            </a:r>
            <a:endParaRPr lang="en-US" sz="1350" dirty="0"/>
          </a:p>
        </p:txBody>
      </p:sp>
      <p:sp>
        <p:nvSpPr>
          <p:cNvPr id="18" name="Shape 13"/>
          <p:cNvSpPr/>
          <p:nvPr/>
        </p:nvSpPr>
        <p:spPr>
          <a:xfrm>
            <a:off x="548640" y="3429000"/>
            <a:ext cx="3520440" cy="1783080"/>
          </a:xfrm>
          <a:prstGeom prst="roundRect">
            <a:avLst>
              <a:gd name="adj" fmla="val 5128"/>
            </a:avLst>
          </a:prstGeom>
          <a:solidFill>
            <a:srgbClr val="F6F5FB"/>
          </a:solidFill>
          <a:ln w="12700">
            <a:solidFill>
              <a:srgbClr val="E4E1EA"/>
            </a:solidFill>
            <a:prstDash val="solid"/>
          </a:ln>
        </p:spPr>
      </p:sp>
      <p:sp>
        <p:nvSpPr>
          <p:cNvPr id="19" name="Shape 14"/>
          <p:cNvSpPr/>
          <p:nvPr/>
        </p:nvSpPr>
        <p:spPr>
          <a:xfrm>
            <a:off x="777240" y="3703320"/>
            <a:ext cx="594360" cy="594360"/>
          </a:xfrm>
          <a:prstGeom prst="ellipse">
            <a:avLst/>
          </a:prstGeom>
          <a:solidFill>
            <a:srgbClr val="D97706"/>
          </a:solidFill>
          <a:ln w="12700">
            <a:solidFill>
              <a:srgbClr val="D97706"/>
            </a:solidFill>
            <a:prstDash val="solid"/>
          </a:ln>
        </p:spPr>
      </p:sp>
      <p:pic>
        <p:nvPicPr>
          <p:cNvPr id="20" name="Image 3" descr="preencoded.png">    </p:cNvPr>
          <p:cNvPicPr>
            <a:picLocks noChangeAspect="1"/>
          </p:cNvPicPr>
          <p:nvPr/>
        </p:nvPicPr>
        <p:blipFill>
          <a:blip r:embed="rId4"/>
          <a:stretch>
            <a:fillRect/>
          </a:stretch>
        </p:blipFill>
        <p:spPr>
          <a:xfrm>
            <a:off x="919886" y="3845966"/>
            <a:ext cx="309067" cy="309067"/>
          </a:xfrm>
          <a:prstGeom prst="rect">
            <a:avLst/>
          </a:prstGeom>
        </p:spPr>
      </p:pic>
      <p:sp>
        <p:nvSpPr>
          <p:cNvPr id="21" name="Text 15"/>
          <p:cNvSpPr txBox="1"/>
          <p:nvPr/>
        </p:nvSpPr>
        <p:spPr>
          <a:xfrm>
            <a:off x="1508760" y="3703320"/>
            <a:ext cx="2377440" cy="594360"/>
          </a:xfrm>
          <a:prstGeom prst="rect">
            <a:avLst/>
          </a:prstGeom>
          <a:noFill/>
          <a:ln/>
        </p:spPr>
        <p:txBody>
          <a:bodyPr wrap="square" lIns="0" tIns="0" rIns="0" bIns="0" rtlCol="0" anchor="ctr"/>
          <a:lstStyle/>
          <a:p>
            <a:pPr indent="0" marL="0">
              <a:buNone/>
            </a:pPr>
            <a:r>
              <a:rPr lang="en-US" sz="1700" b="1" dirty="0">
                <a:solidFill>
                  <a:srgbClr val="1C1B22"/>
                </a:solidFill>
                <a:latin typeface="Arial" pitchFamily="34" charset="0"/>
                <a:ea typeface="Arial" pitchFamily="34" charset="-122"/>
                <a:cs typeface="Arial" pitchFamily="34" charset="-120"/>
              </a:rPr>
              <a:t>PTM sites</a:t>
            </a:r>
            <a:endParaRPr lang="en-US" sz="1700" dirty="0"/>
          </a:p>
        </p:txBody>
      </p:sp>
      <p:sp>
        <p:nvSpPr>
          <p:cNvPr id="22" name="Text 16"/>
          <p:cNvSpPr txBox="1"/>
          <p:nvPr/>
        </p:nvSpPr>
        <p:spPr>
          <a:xfrm>
            <a:off x="777240" y="4389120"/>
            <a:ext cx="3063240" cy="731520"/>
          </a:xfrm>
          <a:prstGeom prst="rect">
            <a:avLst/>
          </a:prstGeom>
          <a:noFill/>
          <a:ln/>
        </p:spPr>
        <p:txBody>
          <a:bodyPr wrap="square" lIns="0" tIns="0" rIns="0" bIns="0" rtlCol="0" anchor="t"/>
          <a:lstStyle/>
          <a:p>
            <a:pPr indent="0" marL="0">
              <a:buNone/>
            </a:pPr>
            <a:r>
              <a:rPr lang="en-US" sz="1350" dirty="0">
                <a:solidFill>
                  <a:srgbClr val="5B5968"/>
                </a:solidFill>
                <a:latin typeface="Calibri" pitchFamily="34" charset="0"/>
                <a:ea typeface="Calibri" pitchFamily="34" charset="-122"/>
                <a:cs typeface="Calibri" pitchFamily="34" charset="-120"/>
              </a:rPr>
              <a:t>Residue and position on the protein, with the evidence behind each site.</a:t>
            </a:r>
            <a:endParaRPr lang="en-US" sz="1350" dirty="0"/>
          </a:p>
        </p:txBody>
      </p:sp>
      <p:sp>
        <p:nvSpPr>
          <p:cNvPr id="23" name="Shape 17"/>
          <p:cNvSpPr/>
          <p:nvPr/>
        </p:nvSpPr>
        <p:spPr>
          <a:xfrm>
            <a:off x="4343400" y="3429000"/>
            <a:ext cx="3520440" cy="1783080"/>
          </a:xfrm>
          <a:prstGeom prst="roundRect">
            <a:avLst>
              <a:gd name="adj" fmla="val 5128"/>
            </a:avLst>
          </a:prstGeom>
          <a:solidFill>
            <a:srgbClr val="F6F5FB"/>
          </a:solidFill>
          <a:ln w="12700">
            <a:solidFill>
              <a:srgbClr val="E4E1EA"/>
            </a:solidFill>
            <a:prstDash val="solid"/>
          </a:ln>
        </p:spPr>
      </p:sp>
      <p:sp>
        <p:nvSpPr>
          <p:cNvPr id="24" name="Shape 18"/>
          <p:cNvSpPr/>
          <p:nvPr/>
        </p:nvSpPr>
        <p:spPr>
          <a:xfrm>
            <a:off x="4572000" y="3703320"/>
            <a:ext cx="594360" cy="594360"/>
          </a:xfrm>
          <a:prstGeom prst="ellipse">
            <a:avLst/>
          </a:prstGeom>
          <a:solidFill>
            <a:srgbClr val="15803D"/>
          </a:solidFill>
          <a:ln w="12700">
            <a:solidFill>
              <a:srgbClr val="15803D"/>
            </a:solidFill>
            <a:prstDash val="solid"/>
          </a:ln>
        </p:spPr>
      </p:sp>
      <p:pic>
        <p:nvPicPr>
          <p:cNvPr id="25" name="Image 4" descr="preencoded.png">    </p:cNvPr>
          <p:cNvPicPr>
            <a:picLocks noChangeAspect="1"/>
          </p:cNvPicPr>
          <p:nvPr/>
        </p:nvPicPr>
        <p:blipFill>
          <a:blip r:embed="rId5"/>
          <a:stretch>
            <a:fillRect/>
          </a:stretch>
        </p:blipFill>
        <p:spPr>
          <a:xfrm>
            <a:off x="4714646" y="3845966"/>
            <a:ext cx="309067" cy="309067"/>
          </a:xfrm>
          <a:prstGeom prst="rect">
            <a:avLst/>
          </a:prstGeom>
        </p:spPr>
      </p:pic>
      <p:sp>
        <p:nvSpPr>
          <p:cNvPr id="26" name="Text 19"/>
          <p:cNvSpPr txBox="1"/>
          <p:nvPr/>
        </p:nvSpPr>
        <p:spPr>
          <a:xfrm>
            <a:off x="5303520" y="3703320"/>
            <a:ext cx="2377440" cy="594360"/>
          </a:xfrm>
          <a:prstGeom prst="rect">
            <a:avLst/>
          </a:prstGeom>
          <a:noFill/>
          <a:ln/>
        </p:spPr>
        <p:txBody>
          <a:bodyPr wrap="square" lIns="0" tIns="0" rIns="0" bIns="0" rtlCol="0" anchor="ctr"/>
          <a:lstStyle/>
          <a:p>
            <a:pPr indent="0" marL="0">
              <a:buNone/>
            </a:pPr>
            <a:r>
              <a:rPr lang="en-US" sz="1700" b="1" dirty="0">
                <a:solidFill>
                  <a:srgbClr val="1C1B22"/>
                </a:solidFill>
                <a:latin typeface="Arial" pitchFamily="34" charset="0"/>
                <a:ea typeface="Arial" pitchFamily="34" charset="-122"/>
                <a:cs typeface="Arial" pitchFamily="34" charset="-120"/>
              </a:rPr>
              <a:t>Quantities</a:t>
            </a:r>
            <a:endParaRPr lang="en-US" sz="1700" dirty="0"/>
          </a:p>
        </p:txBody>
      </p:sp>
      <p:sp>
        <p:nvSpPr>
          <p:cNvPr id="27" name="Text 20"/>
          <p:cNvSpPr txBox="1"/>
          <p:nvPr/>
        </p:nvSpPr>
        <p:spPr>
          <a:xfrm>
            <a:off x="4572000" y="4389120"/>
            <a:ext cx="3063240" cy="731520"/>
          </a:xfrm>
          <a:prstGeom prst="rect">
            <a:avLst/>
          </a:prstGeom>
          <a:noFill/>
          <a:ln/>
        </p:spPr>
        <p:txBody>
          <a:bodyPr wrap="square" lIns="0" tIns="0" rIns="0" bIns="0" rtlCol="0" anchor="t"/>
          <a:lstStyle/>
          <a:p>
            <a:pPr indent="0" marL="0">
              <a:buNone/>
            </a:pPr>
            <a:r>
              <a:rPr lang="en-US" sz="1350" dirty="0">
                <a:solidFill>
                  <a:srgbClr val="5B5968"/>
                </a:solidFill>
                <a:latin typeface="Calibri" pitchFamily="34" charset="0"/>
                <a:ea typeface="Calibri" pitchFamily="34" charset="-122"/>
                <a:cs typeface="Calibri" pitchFamily="34" charset="-120"/>
              </a:rPr>
              <a:t>Label-free intensities per run, with how each was calculated.</a:t>
            </a:r>
            <a:endParaRPr lang="en-US" sz="1350" dirty="0"/>
          </a:p>
        </p:txBody>
      </p:sp>
      <p:sp>
        <p:nvSpPr>
          <p:cNvPr id="28" name="Shape 21"/>
          <p:cNvSpPr/>
          <p:nvPr/>
        </p:nvSpPr>
        <p:spPr>
          <a:xfrm>
            <a:off x="8138160" y="3429000"/>
            <a:ext cx="3520440" cy="1783080"/>
          </a:xfrm>
          <a:prstGeom prst="roundRect">
            <a:avLst>
              <a:gd name="adj" fmla="val 5128"/>
            </a:avLst>
          </a:prstGeom>
          <a:solidFill>
            <a:srgbClr val="F6F5FB"/>
          </a:solidFill>
          <a:ln w="12700">
            <a:solidFill>
              <a:srgbClr val="E4E1EA"/>
            </a:solidFill>
            <a:prstDash val="solid"/>
          </a:ln>
        </p:spPr>
      </p:sp>
      <p:sp>
        <p:nvSpPr>
          <p:cNvPr id="29" name="Shape 22"/>
          <p:cNvSpPr/>
          <p:nvPr/>
        </p:nvSpPr>
        <p:spPr>
          <a:xfrm>
            <a:off x="8366760" y="3703320"/>
            <a:ext cx="594360" cy="594360"/>
          </a:xfrm>
          <a:prstGeom prst="ellipse">
            <a:avLst/>
          </a:prstGeom>
          <a:solidFill>
            <a:srgbClr val="0E7490"/>
          </a:solidFill>
          <a:ln w="12700">
            <a:solidFill>
              <a:srgbClr val="0E7490"/>
            </a:solidFill>
            <a:prstDash val="solid"/>
          </a:ln>
        </p:spPr>
      </p:sp>
      <p:pic>
        <p:nvPicPr>
          <p:cNvPr id="30" name="Image 5" descr="preencoded.png">    </p:cNvPr>
          <p:cNvPicPr>
            <a:picLocks noChangeAspect="1"/>
          </p:cNvPicPr>
          <p:nvPr/>
        </p:nvPicPr>
        <p:blipFill>
          <a:blip r:embed="rId6"/>
          <a:stretch>
            <a:fillRect/>
          </a:stretch>
        </p:blipFill>
        <p:spPr>
          <a:xfrm>
            <a:off x="8509406" y="3845966"/>
            <a:ext cx="309067" cy="309067"/>
          </a:xfrm>
          <a:prstGeom prst="rect">
            <a:avLst/>
          </a:prstGeom>
        </p:spPr>
      </p:pic>
      <p:sp>
        <p:nvSpPr>
          <p:cNvPr id="31" name="Text 23"/>
          <p:cNvSpPr txBox="1"/>
          <p:nvPr/>
        </p:nvSpPr>
        <p:spPr>
          <a:xfrm>
            <a:off x="9098280" y="3703320"/>
            <a:ext cx="2377440" cy="594360"/>
          </a:xfrm>
          <a:prstGeom prst="rect">
            <a:avLst/>
          </a:prstGeom>
          <a:noFill/>
          <a:ln/>
        </p:spPr>
        <p:txBody>
          <a:bodyPr wrap="square" lIns="0" tIns="0" rIns="0" bIns="0" rtlCol="0" anchor="ctr"/>
          <a:lstStyle/>
          <a:p>
            <a:pPr indent="0" marL="0">
              <a:buNone/>
            </a:pPr>
            <a:r>
              <a:rPr lang="en-US" sz="1700" b="1" dirty="0">
                <a:solidFill>
                  <a:srgbClr val="1C1B22"/>
                </a:solidFill>
                <a:latin typeface="Arial" pitchFamily="34" charset="0"/>
                <a:ea typeface="Arial" pitchFamily="34" charset="-122"/>
                <a:cs typeface="Arial" pitchFamily="34" charset="-120"/>
              </a:rPr>
              <a:t>Sample metadata</a:t>
            </a:r>
            <a:endParaRPr lang="en-US" sz="1700" dirty="0"/>
          </a:p>
        </p:txBody>
      </p:sp>
      <p:sp>
        <p:nvSpPr>
          <p:cNvPr id="32" name="Text 24"/>
          <p:cNvSpPr txBox="1"/>
          <p:nvPr/>
        </p:nvSpPr>
        <p:spPr>
          <a:xfrm>
            <a:off x="8366760" y="4389120"/>
            <a:ext cx="3063240" cy="731520"/>
          </a:xfrm>
          <a:prstGeom prst="rect">
            <a:avLst/>
          </a:prstGeom>
          <a:noFill/>
          <a:ln/>
        </p:spPr>
        <p:txBody>
          <a:bodyPr wrap="square" lIns="0" tIns="0" rIns="0" bIns="0" rtlCol="0" anchor="t"/>
          <a:lstStyle/>
          <a:p>
            <a:pPr indent="0" marL="0">
              <a:buNone/>
            </a:pPr>
            <a:r>
              <a:rPr lang="en-US" sz="1350" dirty="0">
                <a:solidFill>
                  <a:srgbClr val="5B5968"/>
                </a:solidFill>
                <a:latin typeface="Calibri" pitchFamily="34" charset="0"/>
                <a:ea typeface="Calibri" pitchFamily="34" charset="-122"/>
                <a:cs typeface="Calibri" pitchFamily="34" charset="-120"/>
              </a:rPr>
              <a:t>Organism, tissue and age as deposited in the SDRF, when the authors supplied them.</a:t>
            </a:r>
            <a:endParaRPr lang="en-US" sz="1350" dirty="0"/>
          </a:p>
        </p:txBody>
      </p:sp>
      <p:sp>
        <p:nvSpPr>
          <p:cNvPr id="33" name="Text 25"/>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1600" i="1" dirty="0">
                <a:solidFill>
                  <a:srgbClr val="4F46E5"/>
                </a:solidFill>
                <a:latin typeface="Calibri" pitchFamily="34" charset="0"/>
                <a:ea typeface="Calibri" pitchFamily="34" charset="-122"/>
                <a:cs typeface="Calibri" pitchFamily="34" charset="-120"/>
              </a:rPr>
              <a:t>A PTM site is to the proteome what a variant call is to the genome: a position, a change, and the evidence for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C1B22"/>
                </a:solidFill>
                <a:latin typeface="Arial" pitchFamily="34" charset="0"/>
                <a:ea typeface="Arial" pitchFamily="34" charset="-122"/>
                <a:cs typeface="Arial" pitchFamily="34" charset="-120"/>
              </a:rPr>
              <a:t>Delivered so far</a:t>
            </a:r>
            <a:endParaRPr lang="en-US" sz="3200" dirty="0"/>
          </a:p>
        </p:txBody>
      </p:sp>
      <p:sp>
        <p:nvSpPr>
          <p:cNvPr id="3" name="Shape 1"/>
          <p:cNvSpPr/>
          <p:nvPr/>
        </p:nvSpPr>
        <p:spPr>
          <a:xfrm>
            <a:off x="548640" y="1325880"/>
            <a:ext cx="3520440" cy="1874520"/>
          </a:xfrm>
          <a:prstGeom prst="roundRect">
            <a:avLst>
              <a:gd name="adj" fmla="val 4878"/>
            </a:avLst>
          </a:prstGeom>
          <a:solidFill>
            <a:srgbClr val="F6F5FB"/>
          </a:solidFill>
          <a:ln w="12700">
            <a:solidFill>
              <a:srgbClr val="E4E1EA"/>
            </a:solidFill>
            <a:prstDash val="solid"/>
          </a:ln>
        </p:spPr>
      </p:sp>
      <p:sp>
        <p:nvSpPr>
          <p:cNvPr id="4" name="Text 2"/>
          <p:cNvSpPr txBox="1"/>
          <p:nvPr/>
        </p:nvSpPr>
        <p:spPr>
          <a:xfrm>
            <a:off x="822960" y="1508760"/>
            <a:ext cx="2971800" cy="960120"/>
          </a:xfrm>
          <a:prstGeom prst="rect">
            <a:avLst/>
          </a:prstGeom>
          <a:noFill/>
          <a:ln/>
        </p:spPr>
        <p:txBody>
          <a:bodyPr wrap="square" lIns="0" tIns="0" rIns="0" bIns="0" rtlCol="0" anchor="ctr"/>
          <a:lstStyle/>
          <a:p>
            <a:pPr indent="0" marL="0">
              <a:buNone/>
            </a:pPr>
            <a:r>
              <a:rPr lang="en-US" sz="5400" b="1" dirty="0">
                <a:solidFill>
                  <a:srgbClr val="0E7490"/>
                </a:solidFill>
                <a:latin typeface="Arial" pitchFamily="34" charset="0"/>
                <a:ea typeface="Arial" pitchFamily="34" charset="-122"/>
                <a:cs typeface="Arial" pitchFamily="34" charset="-120"/>
              </a:rPr>
              <a:t>10</a:t>
            </a:r>
            <a:endParaRPr lang="en-US" sz="5400" dirty="0"/>
          </a:p>
        </p:txBody>
      </p:sp>
      <p:sp>
        <p:nvSpPr>
          <p:cNvPr id="5" name="Text 3"/>
          <p:cNvSpPr txBox="1"/>
          <p:nvPr/>
        </p:nvSpPr>
        <p:spPr>
          <a:xfrm>
            <a:off x="822960" y="2514600"/>
            <a:ext cx="2971800" cy="548640"/>
          </a:xfrm>
          <a:prstGeom prst="rect">
            <a:avLst/>
          </a:prstGeom>
          <a:noFill/>
          <a:ln/>
        </p:spPr>
        <p:txBody>
          <a:bodyPr wrap="square" lIns="0" tIns="0" rIns="0" bIns="0" rtlCol="0" anchor="t"/>
          <a:lstStyle/>
          <a:p>
            <a:pPr indent="0" marL="0">
              <a:buNone/>
            </a:pPr>
            <a:r>
              <a:rPr lang="en-US" sz="1500" dirty="0">
                <a:solidFill>
                  <a:srgbClr val="1C1B22"/>
                </a:solidFill>
                <a:latin typeface="Calibri" pitchFamily="34" charset="0"/>
                <a:ea typeface="Calibri" pitchFamily="34" charset="-122"/>
                <a:cs typeface="Calibri" pitchFamily="34" charset="-120"/>
              </a:rPr>
              <a:t>public datasets</a:t>
            </a:r>
            <a:endParaRPr lang="en-US" sz="1500" dirty="0"/>
          </a:p>
        </p:txBody>
      </p:sp>
      <p:sp>
        <p:nvSpPr>
          <p:cNvPr id="6" name="Shape 4"/>
          <p:cNvSpPr/>
          <p:nvPr/>
        </p:nvSpPr>
        <p:spPr>
          <a:xfrm>
            <a:off x="4343400" y="1325880"/>
            <a:ext cx="3520440" cy="1874520"/>
          </a:xfrm>
          <a:prstGeom prst="roundRect">
            <a:avLst>
              <a:gd name="adj" fmla="val 4878"/>
            </a:avLst>
          </a:prstGeom>
          <a:solidFill>
            <a:srgbClr val="F6F5FB"/>
          </a:solidFill>
          <a:ln w="12700">
            <a:solidFill>
              <a:srgbClr val="E4E1EA"/>
            </a:solidFill>
            <a:prstDash val="solid"/>
          </a:ln>
        </p:spPr>
      </p:sp>
      <p:sp>
        <p:nvSpPr>
          <p:cNvPr id="7" name="Text 5"/>
          <p:cNvSpPr txBox="1"/>
          <p:nvPr/>
        </p:nvSpPr>
        <p:spPr>
          <a:xfrm>
            <a:off x="4617720" y="1508760"/>
            <a:ext cx="2971800" cy="960120"/>
          </a:xfrm>
          <a:prstGeom prst="rect">
            <a:avLst/>
          </a:prstGeom>
          <a:noFill/>
          <a:ln/>
        </p:spPr>
        <p:txBody>
          <a:bodyPr wrap="square" lIns="0" tIns="0" rIns="0" bIns="0" rtlCol="0" anchor="ctr"/>
          <a:lstStyle/>
          <a:p>
            <a:pPr indent="0" marL="0">
              <a:buNone/>
            </a:pPr>
            <a:r>
              <a:rPr lang="en-US" sz="5400" b="1" dirty="0">
                <a:solidFill>
                  <a:srgbClr val="4F46E5"/>
                </a:solidFill>
                <a:latin typeface="Arial" pitchFamily="34" charset="0"/>
                <a:ea typeface="Arial" pitchFamily="34" charset="-122"/>
                <a:cs typeface="Arial" pitchFamily="34" charset="-120"/>
              </a:rPr>
              <a:t>204</a:t>
            </a:r>
            <a:endParaRPr lang="en-US" sz="5400" dirty="0"/>
          </a:p>
        </p:txBody>
      </p:sp>
      <p:sp>
        <p:nvSpPr>
          <p:cNvPr id="8" name="Text 6"/>
          <p:cNvSpPr txBox="1"/>
          <p:nvPr/>
        </p:nvSpPr>
        <p:spPr>
          <a:xfrm>
            <a:off x="4617720" y="2514600"/>
            <a:ext cx="2971800" cy="548640"/>
          </a:xfrm>
          <a:prstGeom prst="rect">
            <a:avLst/>
          </a:prstGeom>
          <a:noFill/>
          <a:ln/>
        </p:spPr>
        <p:txBody>
          <a:bodyPr wrap="square" lIns="0" tIns="0" rIns="0" bIns="0" rtlCol="0" anchor="t"/>
          <a:lstStyle/>
          <a:p>
            <a:pPr indent="0" marL="0">
              <a:buNone/>
            </a:pPr>
            <a:r>
              <a:rPr lang="en-US" sz="1500" dirty="0">
                <a:solidFill>
                  <a:srgbClr val="1C1B22"/>
                </a:solidFill>
                <a:latin typeface="Calibri" pitchFamily="34" charset="0"/>
                <a:ea typeface="Calibri" pitchFamily="34" charset="-122"/>
                <a:cs typeface="Calibri" pitchFamily="34" charset="-120"/>
              </a:rPr>
              <a:t>raw files searched</a:t>
            </a:r>
            <a:endParaRPr lang="en-US" sz="1500" dirty="0"/>
          </a:p>
        </p:txBody>
      </p:sp>
      <p:sp>
        <p:nvSpPr>
          <p:cNvPr id="9" name="Shape 7"/>
          <p:cNvSpPr/>
          <p:nvPr/>
        </p:nvSpPr>
        <p:spPr>
          <a:xfrm>
            <a:off x="8138160" y="1325880"/>
            <a:ext cx="3520440" cy="1874520"/>
          </a:xfrm>
          <a:prstGeom prst="roundRect">
            <a:avLst>
              <a:gd name="adj" fmla="val 4878"/>
            </a:avLst>
          </a:prstGeom>
          <a:solidFill>
            <a:srgbClr val="F6F5FB"/>
          </a:solidFill>
          <a:ln w="12700">
            <a:solidFill>
              <a:srgbClr val="E4E1EA"/>
            </a:solidFill>
            <a:prstDash val="solid"/>
          </a:ln>
        </p:spPr>
      </p:sp>
      <p:sp>
        <p:nvSpPr>
          <p:cNvPr id="10" name="Text 8"/>
          <p:cNvSpPr txBox="1"/>
          <p:nvPr/>
        </p:nvSpPr>
        <p:spPr>
          <a:xfrm>
            <a:off x="8412480" y="1508760"/>
            <a:ext cx="2971800" cy="960120"/>
          </a:xfrm>
          <a:prstGeom prst="rect">
            <a:avLst/>
          </a:prstGeom>
          <a:noFill/>
          <a:ln/>
        </p:spPr>
        <p:txBody>
          <a:bodyPr wrap="square" lIns="0" tIns="0" rIns="0" bIns="0" rtlCol="0" anchor="ctr"/>
          <a:lstStyle/>
          <a:p>
            <a:pPr indent="0" marL="0">
              <a:buNone/>
            </a:pPr>
            <a:r>
              <a:rPr lang="en-US" sz="5400" b="1" dirty="0">
                <a:solidFill>
                  <a:srgbClr val="A21CAF"/>
                </a:solidFill>
                <a:latin typeface="Arial" pitchFamily="34" charset="0"/>
                <a:ea typeface="Arial" pitchFamily="34" charset="-122"/>
                <a:cs typeface="Arial" pitchFamily="34" charset="-120"/>
              </a:rPr>
              <a:t>4.45M</a:t>
            </a:r>
            <a:endParaRPr lang="en-US" sz="5400" dirty="0"/>
          </a:p>
        </p:txBody>
      </p:sp>
      <p:sp>
        <p:nvSpPr>
          <p:cNvPr id="11" name="Text 9"/>
          <p:cNvSpPr txBox="1"/>
          <p:nvPr/>
        </p:nvSpPr>
        <p:spPr>
          <a:xfrm>
            <a:off x="8412480" y="2514600"/>
            <a:ext cx="2971800" cy="548640"/>
          </a:xfrm>
          <a:prstGeom prst="rect">
            <a:avLst/>
          </a:prstGeom>
          <a:noFill/>
          <a:ln/>
        </p:spPr>
        <p:txBody>
          <a:bodyPr wrap="square" lIns="0" tIns="0" rIns="0" bIns="0" rtlCol="0" anchor="t"/>
          <a:lstStyle/>
          <a:p>
            <a:pPr indent="0" marL="0">
              <a:buNone/>
            </a:pPr>
            <a:r>
              <a:rPr lang="en-US" sz="1500" dirty="0">
                <a:solidFill>
                  <a:srgbClr val="1C1B22"/>
                </a:solidFill>
                <a:latin typeface="Calibri" pitchFamily="34" charset="0"/>
                <a:ea typeface="Calibri" pitchFamily="34" charset="-122"/>
                <a:cs typeface="Calibri" pitchFamily="34" charset="-120"/>
              </a:rPr>
              <a:t>MS2 spectra</a:t>
            </a:r>
            <a:endParaRPr lang="en-US" sz="1500" dirty="0"/>
          </a:p>
        </p:txBody>
      </p:sp>
      <p:sp>
        <p:nvSpPr>
          <p:cNvPr id="12" name="Shape 10"/>
          <p:cNvSpPr/>
          <p:nvPr/>
        </p:nvSpPr>
        <p:spPr>
          <a:xfrm>
            <a:off x="548640" y="3474720"/>
            <a:ext cx="3520440" cy="1874520"/>
          </a:xfrm>
          <a:prstGeom prst="roundRect">
            <a:avLst>
              <a:gd name="adj" fmla="val 4878"/>
            </a:avLst>
          </a:prstGeom>
          <a:solidFill>
            <a:srgbClr val="F6F5FB"/>
          </a:solidFill>
          <a:ln w="12700">
            <a:solidFill>
              <a:srgbClr val="E4E1EA"/>
            </a:solidFill>
            <a:prstDash val="solid"/>
          </a:ln>
        </p:spPr>
      </p:sp>
      <p:sp>
        <p:nvSpPr>
          <p:cNvPr id="13" name="Text 11"/>
          <p:cNvSpPr txBox="1"/>
          <p:nvPr/>
        </p:nvSpPr>
        <p:spPr>
          <a:xfrm>
            <a:off x="822960" y="3657600"/>
            <a:ext cx="2971800" cy="960120"/>
          </a:xfrm>
          <a:prstGeom prst="rect">
            <a:avLst/>
          </a:prstGeom>
          <a:noFill/>
          <a:ln/>
        </p:spPr>
        <p:txBody>
          <a:bodyPr wrap="square" lIns="0" tIns="0" rIns="0" bIns="0" rtlCol="0" anchor="ctr"/>
          <a:lstStyle/>
          <a:p>
            <a:pPr indent="0" marL="0">
              <a:buNone/>
            </a:pPr>
            <a:r>
              <a:rPr lang="en-US" sz="5400" b="1" dirty="0">
                <a:solidFill>
                  <a:srgbClr val="D97706"/>
                </a:solidFill>
                <a:latin typeface="Arial" pitchFamily="34" charset="0"/>
                <a:ea typeface="Arial" pitchFamily="34" charset="-122"/>
                <a:cs typeface="Arial" pitchFamily="34" charset="-120"/>
              </a:rPr>
              <a:t>2.16M</a:t>
            </a:r>
            <a:endParaRPr lang="en-US" sz="5400" dirty="0"/>
          </a:p>
        </p:txBody>
      </p:sp>
      <p:sp>
        <p:nvSpPr>
          <p:cNvPr id="14" name="Text 12"/>
          <p:cNvSpPr txBox="1"/>
          <p:nvPr/>
        </p:nvSpPr>
        <p:spPr>
          <a:xfrm>
            <a:off x="822960" y="4663440"/>
            <a:ext cx="2971800" cy="548640"/>
          </a:xfrm>
          <a:prstGeom prst="rect">
            <a:avLst/>
          </a:prstGeom>
          <a:noFill/>
          <a:ln/>
        </p:spPr>
        <p:txBody>
          <a:bodyPr wrap="square" lIns="0" tIns="0" rIns="0" bIns="0" rtlCol="0" anchor="t"/>
          <a:lstStyle/>
          <a:p>
            <a:pPr indent="0" marL="0">
              <a:buNone/>
            </a:pPr>
            <a:r>
              <a:rPr lang="en-US" sz="1500" dirty="0">
                <a:solidFill>
                  <a:srgbClr val="1C1B22"/>
                </a:solidFill>
                <a:latin typeface="Calibri" pitchFamily="34" charset="0"/>
                <a:ea typeface="Calibri" pitchFamily="34" charset="-122"/>
                <a:cs typeface="Calibri" pitchFamily="34" charset="-120"/>
              </a:rPr>
              <a:t>peptide-spectrum matches at 1% FDR</a:t>
            </a:r>
            <a:endParaRPr lang="en-US" sz="1500" dirty="0"/>
          </a:p>
        </p:txBody>
      </p:sp>
      <p:sp>
        <p:nvSpPr>
          <p:cNvPr id="15" name="Shape 13"/>
          <p:cNvSpPr/>
          <p:nvPr/>
        </p:nvSpPr>
        <p:spPr>
          <a:xfrm>
            <a:off x="4343400" y="3474720"/>
            <a:ext cx="3520440" cy="1874520"/>
          </a:xfrm>
          <a:prstGeom prst="roundRect">
            <a:avLst>
              <a:gd name="adj" fmla="val 4878"/>
            </a:avLst>
          </a:prstGeom>
          <a:solidFill>
            <a:srgbClr val="F6F5FB"/>
          </a:solidFill>
          <a:ln w="12700">
            <a:solidFill>
              <a:srgbClr val="E4E1EA"/>
            </a:solidFill>
            <a:prstDash val="solid"/>
          </a:ln>
        </p:spPr>
      </p:sp>
      <p:sp>
        <p:nvSpPr>
          <p:cNvPr id="16" name="Text 14"/>
          <p:cNvSpPr txBox="1"/>
          <p:nvPr/>
        </p:nvSpPr>
        <p:spPr>
          <a:xfrm>
            <a:off x="4617720" y="3657600"/>
            <a:ext cx="2971800" cy="960120"/>
          </a:xfrm>
          <a:prstGeom prst="rect">
            <a:avLst/>
          </a:prstGeom>
          <a:noFill/>
          <a:ln/>
        </p:spPr>
        <p:txBody>
          <a:bodyPr wrap="square" lIns="0" tIns="0" rIns="0" bIns="0" rtlCol="0" anchor="ctr"/>
          <a:lstStyle/>
          <a:p>
            <a:pPr indent="0" marL="0">
              <a:buNone/>
            </a:pPr>
            <a:r>
              <a:rPr lang="en-US" sz="5400" b="1" dirty="0">
                <a:solidFill>
                  <a:srgbClr val="15803D"/>
                </a:solidFill>
                <a:latin typeface="Arial" pitchFamily="34" charset="0"/>
                <a:ea typeface="Arial" pitchFamily="34" charset="-122"/>
                <a:cs typeface="Arial" pitchFamily="34" charset="-120"/>
              </a:rPr>
              <a:t>9,236</a:t>
            </a:r>
            <a:endParaRPr lang="en-US" sz="5400" dirty="0"/>
          </a:p>
        </p:txBody>
      </p:sp>
      <p:sp>
        <p:nvSpPr>
          <p:cNvPr id="17" name="Text 15"/>
          <p:cNvSpPr txBox="1"/>
          <p:nvPr/>
        </p:nvSpPr>
        <p:spPr>
          <a:xfrm>
            <a:off x="4617720" y="4663440"/>
            <a:ext cx="2971800" cy="548640"/>
          </a:xfrm>
          <a:prstGeom prst="rect">
            <a:avLst/>
          </a:prstGeom>
          <a:noFill/>
          <a:ln/>
        </p:spPr>
        <p:txBody>
          <a:bodyPr wrap="square" lIns="0" tIns="0" rIns="0" bIns="0" rtlCol="0" anchor="t"/>
          <a:lstStyle/>
          <a:p>
            <a:pPr indent="0" marL="0">
              <a:buNone/>
            </a:pPr>
            <a:r>
              <a:rPr lang="en-US" sz="1500" dirty="0">
                <a:solidFill>
                  <a:srgbClr val="1C1B22"/>
                </a:solidFill>
                <a:latin typeface="Calibri" pitchFamily="34" charset="0"/>
                <a:ea typeface="Calibri" pitchFamily="34" charset="-122"/>
                <a:cs typeface="Calibri" pitchFamily="34" charset="-120"/>
              </a:rPr>
              <a:t>proteins identified (4,112 in 3+ datasets)</a:t>
            </a:r>
            <a:endParaRPr lang="en-US" sz="1500" dirty="0"/>
          </a:p>
        </p:txBody>
      </p:sp>
      <p:sp>
        <p:nvSpPr>
          <p:cNvPr id="18" name="Shape 16"/>
          <p:cNvSpPr/>
          <p:nvPr/>
        </p:nvSpPr>
        <p:spPr>
          <a:xfrm>
            <a:off x="8138160" y="3474720"/>
            <a:ext cx="3520440" cy="1874520"/>
          </a:xfrm>
          <a:prstGeom prst="roundRect">
            <a:avLst>
              <a:gd name="adj" fmla="val 4878"/>
            </a:avLst>
          </a:prstGeom>
          <a:solidFill>
            <a:srgbClr val="F6F5FB"/>
          </a:solidFill>
          <a:ln w="12700">
            <a:solidFill>
              <a:srgbClr val="E4E1EA"/>
            </a:solidFill>
            <a:prstDash val="solid"/>
          </a:ln>
        </p:spPr>
      </p:sp>
      <p:sp>
        <p:nvSpPr>
          <p:cNvPr id="19" name="Text 17"/>
          <p:cNvSpPr txBox="1"/>
          <p:nvPr/>
        </p:nvSpPr>
        <p:spPr>
          <a:xfrm>
            <a:off x="8412480" y="3657600"/>
            <a:ext cx="2971800" cy="960120"/>
          </a:xfrm>
          <a:prstGeom prst="rect">
            <a:avLst/>
          </a:prstGeom>
          <a:noFill/>
          <a:ln/>
        </p:spPr>
        <p:txBody>
          <a:bodyPr wrap="square" lIns="0" tIns="0" rIns="0" bIns="0" rtlCol="0" anchor="ctr"/>
          <a:lstStyle/>
          <a:p>
            <a:pPr indent="0" marL="0">
              <a:buNone/>
            </a:pPr>
            <a:r>
              <a:rPr lang="en-US" sz="5400" b="1" dirty="0">
                <a:solidFill>
                  <a:srgbClr val="0E7490"/>
                </a:solidFill>
                <a:latin typeface="Arial" pitchFamily="34" charset="0"/>
                <a:ea typeface="Arial" pitchFamily="34" charset="-122"/>
                <a:cs typeface="Arial" pitchFamily="34" charset="-120"/>
              </a:rPr>
              <a:t>118K</a:t>
            </a:r>
            <a:endParaRPr lang="en-US" sz="5400" dirty="0"/>
          </a:p>
        </p:txBody>
      </p:sp>
      <p:sp>
        <p:nvSpPr>
          <p:cNvPr id="20" name="Text 18"/>
          <p:cNvSpPr txBox="1"/>
          <p:nvPr/>
        </p:nvSpPr>
        <p:spPr>
          <a:xfrm>
            <a:off x="8412480" y="4663440"/>
            <a:ext cx="2971800" cy="548640"/>
          </a:xfrm>
          <a:prstGeom prst="rect">
            <a:avLst/>
          </a:prstGeom>
          <a:noFill/>
          <a:ln/>
        </p:spPr>
        <p:txBody>
          <a:bodyPr wrap="square" lIns="0" tIns="0" rIns="0" bIns="0" rtlCol="0" anchor="t"/>
          <a:lstStyle/>
          <a:p>
            <a:pPr indent="0" marL="0">
              <a:buNone/>
            </a:pPr>
            <a:r>
              <a:rPr lang="en-US" sz="1500" dirty="0">
                <a:solidFill>
                  <a:srgbClr val="1C1B22"/>
                </a:solidFill>
                <a:latin typeface="Calibri" pitchFamily="34" charset="0"/>
                <a:ea typeface="Calibri" pitchFamily="34" charset="-122"/>
                <a:cs typeface="Calibri" pitchFamily="34" charset="-120"/>
              </a:rPr>
              <a:t>PTM sites, 130 kinds of modification</a:t>
            </a:r>
            <a:endParaRPr lang="en-US" sz="1500" dirty="0"/>
          </a:p>
        </p:txBody>
      </p:sp>
      <p:sp>
        <p:nvSpPr>
          <p:cNvPr id="21" name="Text 19"/>
          <p:cNvSpPr txBox="1"/>
          <p:nvPr/>
        </p:nvSpPr>
        <p:spPr>
          <a:xfrm>
            <a:off x="548640" y="5806440"/>
            <a:ext cx="11064240" cy="502920"/>
          </a:xfrm>
          <a:prstGeom prst="rect">
            <a:avLst/>
          </a:prstGeom>
          <a:noFill/>
          <a:ln/>
        </p:spPr>
        <p:txBody>
          <a:bodyPr wrap="square" lIns="0" tIns="0" rIns="0" bIns="0" rtlCol="0" anchor="ctr"/>
          <a:lstStyle/>
          <a:p>
            <a:pPr indent="0" marL="0">
              <a:buNone/>
            </a:pPr>
            <a:r>
              <a:rPr lang="en-US" sz="1200" dirty="0">
                <a:solidFill>
                  <a:srgbClr val="5B5968"/>
                </a:solidFill>
                <a:latin typeface="Calibri" pitchFamily="34" charset="0"/>
                <a:ea typeface="Calibri" pitchFamily="34" charset="-122"/>
                <a:cs typeface="Calibri" pitchFamily="34" charset="-120"/>
              </a:rPr>
              <a:t>Preview numbers from catalog f656bfc22cf1f675, built before the current re-processing. They will change, and each release is cited by its catalog id.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C1B22"/>
                </a:solidFill>
                <a:latin typeface="Arial" pitchFamily="34" charset="0"/>
                <a:ea typeface="Arial" pitchFamily="34" charset="-122"/>
                <a:cs typeface="Arial" pitchFamily="34" charset="-120"/>
              </a:rPr>
              <a:t>One rule for a network of projects</a:t>
            </a:r>
            <a:endParaRPr lang="en-US" sz="3200" dirty="0"/>
          </a:p>
        </p:txBody>
      </p:sp>
      <p:sp>
        <p:nvSpPr>
          <p:cNvPr id="3" name="Shape 1"/>
          <p:cNvSpPr/>
          <p:nvPr/>
        </p:nvSpPr>
        <p:spPr>
          <a:xfrm>
            <a:off x="548640" y="1417320"/>
            <a:ext cx="2514600" cy="2697480"/>
          </a:xfrm>
          <a:prstGeom prst="roundRect">
            <a:avLst>
              <a:gd name="adj" fmla="val 4364"/>
            </a:avLst>
          </a:prstGeom>
          <a:solidFill>
            <a:srgbClr val="F6F5FB"/>
          </a:solidFill>
          <a:ln w="12700">
            <a:solidFill>
              <a:srgbClr val="E4E1EA"/>
            </a:solidFill>
            <a:prstDash val="solid"/>
          </a:ln>
        </p:spPr>
      </p:sp>
      <p:sp>
        <p:nvSpPr>
          <p:cNvPr id="4" name="Shape 2"/>
          <p:cNvSpPr/>
          <p:nvPr/>
        </p:nvSpPr>
        <p:spPr>
          <a:xfrm>
            <a:off x="1440180" y="1645920"/>
            <a:ext cx="731520" cy="731520"/>
          </a:xfrm>
          <a:prstGeom prst="ellipse">
            <a:avLst/>
          </a:prstGeom>
          <a:solidFill>
            <a:srgbClr val="0E7490"/>
          </a:solidFill>
          <a:ln w="12700">
            <a:solidFill>
              <a:srgbClr val="0E7490"/>
            </a:solidFill>
            <a:prstDash val="solid"/>
          </a:ln>
        </p:spPr>
      </p:sp>
      <p:pic>
        <p:nvPicPr>
          <p:cNvPr id="5" name="Image 0" descr="preencoded.png">    </p:cNvPr>
          <p:cNvPicPr>
            <a:picLocks noChangeAspect="1"/>
          </p:cNvPicPr>
          <p:nvPr/>
        </p:nvPicPr>
        <p:blipFill>
          <a:blip r:embed="rId1"/>
          <a:stretch>
            <a:fillRect/>
          </a:stretch>
        </p:blipFill>
        <p:spPr>
          <a:xfrm>
            <a:off x="1615745" y="1821485"/>
            <a:ext cx="380390" cy="380390"/>
          </a:xfrm>
          <a:prstGeom prst="rect">
            <a:avLst/>
          </a:prstGeom>
        </p:spPr>
      </p:pic>
      <p:sp>
        <p:nvSpPr>
          <p:cNvPr id="6" name="Text 3"/>
          <p:cNvSpPr txBox="1"/>
          <p:nvPr/>
        </p:nvSpPr>
        <p:spPr>
          <a:xfrm>
            <a:off x="685800" y="2514600"/>
            <a:ext cx="2240280" cy="411480"/>
          </a:xfrm>
          <a:prstGeom prst="rect">
            <a:avLst/>
          </a:prstGeom>
          <a:noFill/>
          <a:ln/>
        </p:spPr>
        <p:txBody>
          <a:bodyPr wrap="square" lIns="0" tIns="0" rIns="0" bIns="0" rtlCol="0" anchor="ctr"/>
          <a:lstStyle/>
          <a:p>
            <a:pPr algn="ctr" indent="0" marL="0">
              <a:buNone/>
            </a:pPr>
            <a:r>
              <a:rPr lang="en-US" sz="1700" b="1" dirty="0">
                <a:solidFill>
                  <a:srgbClr val="0E7490"/>
                </a:solidFill>
                <a:latin typeface="Arial" pitchFamily="34" charset="0"/>
                <a:ea typeface="Arial" pitchFamily="34" charset="-122"/>
                <a:cs typeface="Arial" pitchFamily="34" charset="-120"/>
              </a:rPr>
              <a:t>DEFINE</a:t>
            </a:r>
            <a:endParaRPr lang="en-US" sz="1700" dirty="0"/>
          </a:p>
        </p:txBody>
      </p:sp>
      <p:sp>
        <p:nvSpPr>
          <p:cNvPr id="7" name="Text 4"/>
          <p:cNvSpPr txBox="1"/>
          <p:nvPr/>
        </p:nvSpPr>
        <p:spPr>
          <a:xfrm>
            <a:off x="731520" y="2971800"/>
            <a:ext cx="2148840" cy="1051560"/>
          </a:xfrm>
          <a:prstGeom prst="rect">
            <a:avLst/>
          </a:prstGeom>
          <a:noFill/>
          <a:ln/>
        </p:spPr>
        <p:txBody>
          <a:bodyPr wrap="square" lIns="0" tIns="0" rIns="0" bIns="0" rtlCol="0" anchor="t"/>
          <a:lstStyle/>
          <a:p>
            <a:pPr algn="ctr" indent="0" marL="0">
              <a:buNone/>
            </a:pPr>
            <a:r>
              <a:rPr lang="en-US" sz="1350" dirty="0">
                <a:solidFill>
                  <a:srgbClr val="1C1B22"/>
                </a:solidFill>
                <a:latin typeface="Calibri" pitchFamily="34" charset="0"/>
                <a:ea typeface="Calibri" pitchFamily="34" charset="-122"/>
                <a:cs typeface="Calibri" pitchFamily="34" charset="-120"/>
              </a:rPr>
              <a:t>The partner that owns the science writes the model, the definition and the version.</a:t>
            </a:r>
            <a:endParaRPr lang="en-US" sz="1350" dirty="0"/>
          </a:p>
        </p:txBody>
      </p:sp>
      <p:sp>
        <p:nvSpPr>
          <p:cNvPr id="8" name="Shape 5"/>
          <p:cNvSpPr/>
          <p:nvPr/>
        </p:nvSpPr>
        <p:spPr>
          <a:xfrm>
            <a:off x="3118104" y="2560320"/>
            <a:ext cx="228600" cy="365760"/>
          </a:xfrm>
          <a:prstGeom prst="rightArrow">
            <a:avLst/>
          </a:prstGeom>
          <a:solidFill>
            <a:srgbClr val="B9B7C9"/>
          </a:solidFill>
          <a:ln w="12700">
            <a:solidFill>
              <a:srgbClr val="B9B7C9"/>
            </a:solidFill>
            <a:prstDash val="solid"/>
          </a:ln>
        </p:spPr>
      </p:sp>
      <p:sp>
        <p:nvSpPr>
          <p:cNvPr id="9" name="Shape 6"/>
          <p:cNvSpPr/>
          <p:nvPr/>
        </p:nvSpPr>
        <p:spPr>
          <a:xfrm>
            <a:off x="3401568" y="1417320"/>
            <a:ext cx="2514600" cy="2697480"/>
          </a:xfrm>
          <a:prstGeom prst="roundRect">
            <a:avLst>
              <a:gd name="adj" fmla="val 4364"/>
            </a:avLst>
          </a:prstGeom>
          <a:solidFill>
            <a:srgbClr val="F6F5FB"/>
          </a:solidFill>
          <a:ln w="12700">
            <a:solidFill>
              <a:srgbClr val="E4E1EA"/>
            </a:solidFill>
            <a:prstDash val="solid"/>
          </a:ln>
        </p:spPr>
      </p:sp>
      <p:sp>
        <p:nvSpPr>
          <p:cNvPr id="10" name="Shape 7"/>
          <p:cNvSpPr/>
          <p:nvPr/>
        </p:nvSpPr>
        <p:spPr>
          <a:xfrm>
            <a:off x="4293108" y="1645920"/>
            <a:ext cx="731520" cy="731520"/>
          </a:xfrm>
          <a:prstGeom prst="ellipse">
            <a:avLst/>
          </a:prstGeom>
          <a:solidFill>
            <a:srgbClr val="4F46E5"/>
          </a:solidFill>
          <a:ln w="12700">
            <a:solidFill>
              <a:srgbClr val="4F46E5"/>
            </a:solidFill>
            <a:prstDash val="solid"/>
          </a:ln>
        </p:spPr>
      </p:sp>
      <p:pic>
        <p:nvPicPr>
          <p:cNvPr id="11" name="Image 1" descr="preencoded.png">    </p:cNvPr>
          <p:cNvPicPr>
            <a:picLocks noChangeAspect="1"/>
          </p:cNvPicPr>
          <p:nvPr/>
        </p:nvPicPr>
        <p:blipFill>
          <a:blip r:embed="rId2"/>
          <a:stretch>
            <a:fillRect/>
          </a:stretch>
        </p:blipFill>
        <p:spPr>
          <a:xfrm>
            <a:off x="4468673" y="1821485"/>
            <a:ext cx="380390" cy="380390"/>
          </a:xfrm>
          <a:prstGeom prst="rect">
            <a:avLst/>
          </a:prstGeom>
        </p:spPr>
      </p:pic>
      <p:sp>
        <p:nvSpPr>
          <p:cNvPr id="12" name="Text 8"/>
          <p:cNvSpPr txBox="1"/>
          <p:nvPr/>
        </p:nvSpPr>
        <p:spPr>
          <a:xfrm>
            <a:off x="3538728" y="2514600"/>
            <a:ext cx="2240280" cy="411480"/>
          </a:xfrm>
          <a:prstGeom prst="rect">
            <a:avLst/>
          </a:prstGeom>
          <a:noFill/>
          <a:ln/>
        </p:spPr>
        <p:txBody>
          <a:bodyPr wrap="square" lIns="0" tIns="0" rIns="0" bIns="0" rtlCol="0" anchor="ctr"/>
          <a:lstStyle/>
          <a:p>
            <a:pPr algn="ctr" indent="0" marL="0">
              <a:buNone/>
            </a:pPr>
            <a:r>
              <a:rPr lang="en-US" sz="1700" b="1" dirty="0">
                <a:solidFill>
                  <a:srgbClr val="4F46E5"/>
                </a:solidFill>
                <a:latin typeface="Arial" pitchFamily="34" charset="0"/>
                <a:ea typeface="Arial" pitchFamily="34" charset="-122"/>
                <a:cs typeface="Arial" pitchFamily="34" charset="-120"/>
              </a:rPr>
              <a:t>RUN</a:t>
            </a:r>
            <a:endParaRPr lang="en-US" sz="1700" dirty="0"/>
          </a:p>
        </p:txBody>
      </p:sp>
      <p:sp>
        <p:nvSpPr>
          <p:cNvPr id="13" name="Text 9"/>
          <p:cNvSpPr txBox="1"/>
          <p:nvPr/>
        </p:nvSpPr>
        <p:spPr>
          <a:xfrm>
            <a:off x="3584448" y="2971800"/>
            <a:ext cx="2148840" cy="1051560"/>
          </a:xfrm>
          <a:prstGeom prst="rect">
            <a:avLst/>
          </a:prstGeom>
          <a:noFill/>
          <a:ln/>
        </p:spPr>
        <p:txBody>
          <a:bodyPr wrap="square" lIns="0" tIns="0" rIns="0" bIns="0" rtlCol="0" anchor="t"/>
          <a:lstStyle/>
          <a:p>
            <a:pPr algn="ctr" indent="0" marL="0">
              <a:buNone/>
            </a:pPr>
            <a:r>
              <a:rPr lang="en-US" sz="1350" dirty="0">
                <a:solidFill>
                  <a:srgbClr val="1C1B22"/>
                </a:solidFill>
                <a:latin typeface="Calibri" pitchFamily="34" charset="0"/>
                <a:ea typeface="Calibri" pitchFamily="34" charset="-122"/>
                <a:cs typeface="Calibri" pitchFamily="34" charset="-120"/>
              </a:rPr>
              <a:t>Wherever the code executes: inside the search (aging), or on stored results (dataRepo).</a:t>
            </a:r>
            <a:endParaRPr lang="en-US" sz="1350" dirty="0"/>
          </a:p>
        </p:txBody>
      </p:sp>
      <p:sp>
        <p:nvSpPr>
          <p:cNvPr id="14" name="Shape 10"/>
          <p:cNvSpPr/>
          <p:nvPr/>
        </p:nvSpPr>
        <p:spPr>
          <a:xfrm>
            <a:off x="5971032" y="2560320"/>
            <a:ext cx="228600" cy="365760"/>
          </a:xfrm>
          <a:prstGeom prst="rightArrow">
            <a:avLst/>
          </a:prstGeom>
          <a:solidFill>
            <a:srgbClr val="B9B7C9"/>
          </a:solidFill>
          <a:ln w="12700">
            <a:solidFill>
              <a:srgbClr val="B9B7C9"/>
            </a:solidFill>
            <a:prstDash val="solid"/>
          </a:ln>
        </p:spPr>
      </p:sp>
      <p:sp>
        <p:nvSpPr>
          <p:cNvPr id="15" name="Shape 11"/>
          <p:cNvSpPr/>
          <p:nvPr/>
        </p:nvSpPr>
        <p:spPr>
          <a:xfrm>
            <a:off x="6254496" y="1417320"/>
            <a:ext cx="2514600" cy="2697480"/>
          </a:xfrm>
          <a:prstGeom prst="roundRect">
            <a:avLst>
              <a:gd name="adj" fmla="val 4364"/>
            </a:avLst>
          </a:prstGeom>
          <a:solidFill>
            <a:srgbClr val="F6F5FB"/>
          </a:solidFill>
          <a:ln w="12700">
            <a:solidFill>
              <a:srgbClr val="E4E1EA"/>
            </a:solidFill>
            <a:prstDash val="solid"/>
          </a:ln>
        </p:spPr>
      </p:sp>
      <p:sp>
        <p:nvSpPr>
          <p:cNvPr id="16" name="Shape 12"/>
          <p:cNvSpPr/>
          <p:nvPr/>
        </p:nvSpPr>
        <p:spPr>
          <a:xfrm>
            <a:off x="7146036" y="1645920"/>
            <a:ext cx="731520" cy="731520"/>
          </a:xfrm>
          <a:prstGeom prst="ellipse">
            <a:avLst/>
          </a:prstGeom>
          <a:solidFill>
            <a:srgbClr val="A21CAF"/>
          </a:solidFill>
          <a:ln w="12700">
            <a:solidFill>
              <a:srgbClr val="A21CAF"/>
            </a:solidFill>
            <a:prstDash val="solid"/>
          </a:ln>
        </p:spPr>
      </p:sp>
      <p:pic>
        <p:nvPicPr>
          <p:cNvPr id="17" name="Image 2" descr="preencoded.png">    </p:cNvPr>
          <p:cNvPicPr>
            <a:picLocks noChangeAspect="1"/>
          </p:cNvPicPr>
          <p:nvPr/>
        </p:nvPicPr>
        <p:blipFill>
          <a:blip r:embed="rId3"/>
          <a:stretch>
            <a:fillRect/>
          </a:stretch>
        </p:blipFill>
        <p:spPr>
          <a:xfrm>
            <a:off x="7321601" y="1821485"/>
            <a:ext cx="380390" cy="380390"/>
          </a:xfrm>
          <a:prstGeom prst="rect">
            <a:avLst/>
          </a:prstGeom>
        </p:spPr>
      </p:pic>
      <p:sp>
        <p:nvSpPr>
          <p:cNvPr id="18" name="Text 13"/>
          <p:cNvSpPr txBox="1"/>
          <p:nvPr/>
        </p:nvSpPr>
        <p:spPr>
          <a:xfrm>
            <a:off x="6391656" y="2514600"/>
            <a:ext cx="2240280" cy="411480"/>
          </a:xfrm>
          <a:prstGeom prst="rect">
            <a:avLst/>
          </a:prstGeom>
          <a:noFill/>
          <a:ln/>
        </p:spPr>
        <p:txBody>
          <a:bodyPr wrap="square" lIns="0" tIns="0" rIns="0" bIns="0" rtlCol="0" anchor="ctr"/>
          <a:lstStyle/>
          <a:p>
            <a:pPr algn="ctr" indent="0" marL="0">
              <a:buNone/>
            </a:pPr>
            <a:r>
              <a:rPr lang="en-US" sz="1700" b="1" dirty="0">
                <a:solidFill>
                  <a:srgbClr val="A21CAF"/>
                </a:solidFill>
                <a:latin typeface="Arial" pitchFamily="34" charset="0"/>
                <a:ea typeface="Arial" pitchFamily="34" charset="-122"/>
                <a:cs typeface="Arial" pitchFamily="34" charset="-120"/>
              </a:rPr>
              <a:t>STORE &amp; SERVE</a:t>
            </a:r>
            <a:endParaRPr lang="en-US" sz="1700" dirty="0"/>
          </a:p>
        </p:txBody>
      </p:sp>
      <p:sp>
        <p:nvSpPr>
          <p:cNvPr id="19" name="Text 14"/>
          <p:cNvSpPr txBox="1"/>
          <p:nvPr/>
        </p:nvSpPr>
        <p:spPr>
          <a:xfrm>
            <a:off x="6437376" y="2971800"/>
            <a:ext cx="2148840" cy="1051560"/>
          </a:xfrm>
          <a:prstGeom prst="rect">
            <a:avLst/>
          </a:prstGeom>
          <a:noFill/>
          <a:ln/>
        </p:spPr>
        <p:txBody>
          <a:bodyPr wrap="square" lIns="0" tIns="0" rIns="0" bIns="0" rtlCol="0" anchor="t"/>
          <a:lstStyle/>
          <a:p>
            <a:pPr algn="ctr" indent="0" marL="0">
              <a:buNone/>
            </a:pPr>
            <a:r>
              <a:rPr lang="en-US" sz="1350" dirty="0">
                <a:solidFill>
                  <a:srgbClr val="1C1B22"/>
                </a:solidFill>
                <a:latin typeface="Calibri" pitchFamily="34" charset="0"/>
                <a:ea typeface="Calibri" pitchFamily="34" charset="-122"/>
                <a:cs typeface="Calibri" pitchFamily="34" charset="-120"/>
              </a:rPr>
              <a:t>dataRepo keeps every output with its engine version, inputs and definition.</a:t>
            </a:r>
            <a:endParaRPr lang="en-US" sz="1350" dirty="0"/>
          </a:p>
        </p:txBody>
      </p:sp>
      <p:sp>
        <p:nvSpPr>
          <p:cNvPr id="20" name="Shape 15"/>
          <p:cNvSpPr/>
          <p:nvPr/>
        </p:nvSpPr>
        <p:spPr>
          <a:xfrm>
            <a:off x="8823960" y="2560320"/>
            <a:ext cx="228600" cy="365760"/>
          </a:xfrm>
          <a:prstGeom prst="rightArrow">
            <a:avLst/>
          </a:prstGeom>
          <a:solidFill>
            <a:srgbClr val="B9B7C9"/>
          </a:solidFill>
          <a:ln w="12700">
            <a:solidFill>
              <a:srgbClr val="B9B7C9"/>
            </a:solidFill>
            <a:prstDash val="solid"/>
          </a:ln>
        </p:spPr>
      </p:sp>
      <p:sp>
        <p:nvSpPr>
          <p:cNvPr id="21" name="Shape 16"/>
          <p:cNvSpPr/>
          <p:nvPr/>
        </p:nvSpPr>
        <p:spPr>
          <a:xfrm>
            <a:off x="9107424" y="1417320"/>
            <a:ext cx="2514600" cy="2697480"/>
          </a:xfrm>
          <a:prstGeom prst="roundRect">
            <a:avLst>
              <a:gd name="adj" fmla="val 4364"/>
            </a:avLst>
          </a:prstGeom>
          <a:solidFill>
            <a:srgbClr val="F6F5FB"/>
          </a:solidFill>
          <a:ln w="12700">
            <a:solidFill>
              <a:srgbClr val="E4E1EA"/>
            </a:solidFill>
            <a:prstDash val="solid"/>
          </a:ln>
        </p:spPr>
      </p:sp>
      <p:sp>
        <p:nvSpPr>
          <p:cNvPr id="22" name="Shape 17"/>
          <p:cNvSpPr/>
          <p:nvPr/>
        </p:nvSpPr>
        <p:spPr>
          <a:xfrm>
            <a:off x="9998964" y="1645920"/>
            <a:ext cx="731520" cy="731520"/>
          </a:xfrm>
          <a:prstGeom prst="ellipse">
            <a:avLst/>
          </a:prstGeom>
          <a:solidFill>
            <a:srgbClr val="D97706"/>
          </a:solidFill>
          <a:ln w="12700">
            <a:solidFill>
              <a:srgbClr val="D97706"/>
            </a:solidFill>
            <a:prstDash val="solid"/>
          </a:ln>
        </p:spPr>
      </p:sp>
      <p:pic>
        <p:nvPicPr>
          <p:cNvPr id="23" name="Image 3" descr="preencoded.png">    </p:cNvPr>
          <p:cNvPicPr>
            <a:picLocks noChangeAspect="1"/>
          </p:cNvPicPr>
          <p:nvPr/>
        </p:nvPicPr>
        <p:blipFill>
          <a:blip r:embed="rId4"/>
          <a:stretch>
            <a:fillRect/>
          </a:stretch>
        </p:blipFill>
        <p:spPr>
          <a:xfrm>
            <a:off x="10174529" y="1821485"/>
            <a:ext cx="380390" cy="380390"/>
          </a:xfrm>
          <a:prstGeom prst="rect">
            <a:avLst/>
          </a:prstGeom>
        </p:spPr>
      </p:pic>
      <p:sp>
        <p:nvSpPr>
          <p:cNvPr id="24" name="Text 18"/>
          <p:cNvSpPr txBox="1"/>
          <p:nvPr/>
        </p:nvSpPr>
        <p:spPr>
          <a:xfrm>
            <a:off x="9244584" y="2514600"/>
            <a:ext cx="2240280" cy="411480"/>
          </a:xfrm>
          <a:prstGeom prst="rect">
            <a:avLst/>
          </a:prstGeom>
          <a:noFill/>
          <a:ln/>
        </p:spPr>
        <p:txBody>
          <a:bodyPr wrap="square" lIns="0" tIns="0" rIns="0" bIns="0" rtlCol="0" anchor="ctr"/>
          <a:lstStyle/>
          <a:p>
            <a:pPr algn="ctr" indent="0" marL="0">
              <a:buNone/>
            </a:pPr>
            <a:r>
              <a:rPr lang="en-US" sz="1700" b="1" dirty="0">
                <a:solidFill>
                  <a:srgbClr val="D97706"/>
                </a:solidFill>
                <a:latin typeface="Arial" pitchFamily="34" charset="0"/>
                <a:ea typeface="Arial" pitchFamily="34" charset="-122"/>
                <a:cs typeface="Arial" pitchFamily="34" charset="-120"/>
              </a:rPr>
              <a:t>CONSUME</a:t>
            </a:r>
            <a:endParaRPr lang="en-US" sz="1700" dirty="0"/>
          </a:p>
        </p:txBody>
      </p:sp>
      <p:sp>
        <p:nvSpPr>
          <p:cNvPr id="25" name="Text 19"/>
          <p:cNvSpPr txBox="1"/>
          <p:nvPr/>
        </p:nvSpPr>
        <p:spPr>
          <a:xfrm>
            <a:off x="9290304" y="2971800"/>
            <a:ext cx="2148840" cy="1051560"/>
          </a:xfrm>
          <a:prstGeom prst="rect">
            <a:avLst/>
          </a:prstGeom>
          <a:noFill/>
          <a:ln/>
        </p:spPr>
        <p:txBody>
          <a:bodyPr wrap="square" lIns="0" tIns="0" rIns="0" bIns="0" rtlCol="0" anchor="t"/>
          <a:lstStyle/>
          <a:p>
            <a:pPr algn="ctr" indent="0" marL="0">
              <a:buNone/>
            </a:pPr>
            <a:r>
              <a:rPr lang="en-US" sz="1350" dirty="0">
                <a:solidFill>
                  <a:srgbClr val="1C1B22"/>
                </a:solidFill>
                <a:latin typeface="Calibri" pitchFamily="34" charset="0"/>
                <a:ea typeface="Calibri" pitchFamily="34" charset="-122"/>
                <a:cs typeface="Calibri" pitchFamily="34" charset="-120"/>
              </a:rPr>
              <a:t>aging asks the biological questions and owns its own science.</a:t>
            </a:r>
            <a:endParaRPr lang="en-US" sz="1350" dirty="0"/>
          </a:p>
        </p:txBody>
      </p:sp>
      <p:sp>
        <p:nvSpPr>
          <p:cNvPr id="26" name="Shape 20"/>
          <p:cNvSpPr/>
          <p:nvPr/>
        </p:nvSpPr>
        <p:spPr>
          <a:xfrm>
            <a:off x="548640" y="4389120"/>
            <a:ext cx="11064240" cy="1417320"/>
          </a:xfrm>
          <a:prstGeom prst="roundRect">
            <a:avLst>
              <a:gd name="adj" fmla="val 7742"/>
            </a:avLst>
          </a:prstGeom>
          <a:solidFill>
            <a:srgbClr val="EEF0FF"/>
          </a:solidFill>
          <a:ln w="12700">
            <a:solidFill>
              <a:srgbClr val="EEF0FF"/>
            </a:solidFill>
            <a:prstDash val="solid"/>
          </a:ln>
        </p:spPr>
      </p:sp>
      <p:sp>
        <p:nvSpPr>
          <p:cNvPr id="27" name="Text 21"/>
          <p:cNvSpPr txBox="1"/>
          <p:nvPr/>
        </p:nvSpPr>
        <p:spPr>
          <a:xfrm>
            <a:off x="822960" y="4526280"/>
            <a:ext cx="10515600" cy="1143000"/>
          </a:xfrm>
          <a:prstGeom prst="rect">
            <a:avLst/>
          </a:prstGeom>
          <a:noFill/>
          <a:ln/>
        </p:spPr>
        <p:txBody>
          <a:bodyPr wrap="square" lIns="0" tIns="0" rIns="0" bIns="0"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Why it matters. </a:t>
            </a:r>
            <a:pPr indent="0" marL="0">
              <a:buNone/>
            </a:pPr>
            <a:r>
              <a:rPr lang="en-US" sz="1500" dirty="0">
                <a:solidFill>
                  <a:srgbClr val="1C1B22"/>
                </a:solidFill>
                <a:latin typeface="Calibri" pitchFamily="34" charset="0"/>
                <a:ea typeface="Calibri" pitchFamily="34" charset="-122"/>
                <a:cs typeface="Calibri" pitchFamily="34" charset="-120"/>
              </a:rPr>
              <a:t>Engines such as go, logs and ptmQtl are generic: they work for any study, so none of them knows which study to run for, and none runs itself. Without an owner for each step, the chain breaks silently: a missing link gives an empty answer, not an error. dataRepo is the owner for running engines on stored data.</a:t>
            </a:r>
            <a:endParaRPr lang="en-US" sz="1500" dirty="0"/>
          </a:p>
        </p:txBody>
      </p:sp>
      <p:sp>
        <p:nvSpPr>
          <p:cNvPr id="28" name="Text 22"/>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200" dirty="0">
                <a:solidFill>
                  <a:srgbClr val="5B5968"/>
                </a:solidFill>
                <a:latin typeface="Calibri" pitchFamily="34" charset="0"/>
                <a:ea typeface="Calibri" pitchFamily="34" charset="-122"/>
                <a:cs typeface="Calibri" pitchFamily="34" charset="-120"/>
              </a:rPr>
              <a:t>Proposed in a responsibilities charter, now with all eight projects for sign-off.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C1B22"/>
                </a:solidFill>
                <a:latin typeface="Arial" pitchFamily="34" charset="0"/>
                <a:ea typeface="Arial" pitchFamily="34" charset="-122"/>
                <a:cs typeface="Arial" pitchFamily="34" charset="-120"/>
              </a:rPr>
              <a:t>What dataRepo will do with each partner</a:t>
            </a:r>
            <a:endParaRPr lang="en-US" sz="3200" dirty="0"/>
          </a:p>
        </p:txBody>
      </p:sp>
      <p:sp>
        <p:nvSpPr>
          <p:cNvPr id="3" name="Shape 1"/>
          <p:cNvSpPr/>
          <p:nvPr/>
        </p:nvSpPr>
        <p:spPr>
          <a:xfrm>
            <a:off x="548640" y="1325880"/>
            <a:ext cx="2596896" cy="2240280"/>
          </a:xfrm>
          <a:prstGeom prst="roundRect">
            <a:avLst>
              <a:gd name="adj" fmla="val 4082"/>
            </a:avLst>
          </a:prstGeom>
          <a:solidFill>
            <a:srgbClr val="F6F5FB"/>
          </a:solidFill>
          <a:ln w="12700">
            <a:solidFill>
              <a:srgbClr val="E4E1EA"/>
            </a:solidFill>
            <a:prstDash val="solid"/>
          </a:ln>
        </p:spPr>
      </p:sp>
      <p:sp>
        <p:nvSpPr>
          <p:cNvPr id="4" name="Shape 2"/>
          <p:cNvSpPr/>
          <p:nvPr/>
        </p:nvSpPr>
        <p:spPr>
          <a:xfrm>
            <a:off x="731520" y="1508760"/>
            <a:ext cx="548640" cy="548640"/>
          </a:xfrm>
          <a:prstGeom prst="ellipse">
            <a:avLst/>
          </a:prstGeom>
          <a:solidFill>
            <a:srgbClr val="0E7490"/>
          </a:solidFill>
          <a:ln w="12700">
            <a:solidFill>
              <a:srgbClr val="0E7490"/>
            </a:solidFill>
            <a:prstDash val="solid"/>
          </a:ln>
        </p:spPr>
      </p:sp>
      <p:pic>
        <p:nvPicPr>
          <p:cNvPr id="5" name="Image 0" descr="preencoded.png">    </p:cNvPr>
          <p:cNvPicPr>
            <a:picLocks noChangeAspect="1"/>
          </p:cNvPicPr>
          <p:nvPr/>
        </p:nvPicPr>
        <p:blipFill>
          <a:blip r:embed="rId1"/>
          <a:stretch>
            <a:fillRect/>
          </a:stretch>
        </p:blipFill>
        <p:spPr>
          <a:xfrm>
            <a:off x="863194" y="1640434"/>
            <a:ext cx="285293" cy="285293"/>
          </a:xfrm>
          <a:prstGeom prst="rect">
            <a:avLst/>
          </a:prstGeom>
        </p:spPr>
      </p:pic>
      <p:sp>
        <p:nvSpPr>
          <p:cNvPr id="6" name="Text 3"/>
          <p:cNvSpPr txBox="1"/>
          <p:nvPr/>
        </p:nvSpPr>
        <p:spPr>
          <a:xfrm>
            <a:off x="1389888" y="1463040"/>
            <a:ext cx="1636776" cy="685800"/>
          </a:xfrm>
          <a:prstGeom prst="rect">
            <a:avLst/>
          </a:prstGeom>
          <a:noFill/>
          <a:ln/>
        </p:spPr>
        <p:txBody>
          <a:bodyPr wrap="square" lIns="0" tIns="0" rIns="0" bIns="0" rtlCol="0" anchor="ctr"/>
          <a:lstStyle/>
          <a:p>
            <a:pPr indent="0" marL="0">
              <a:buNone/>
            </a:pPr>
            <a:r>
              <a:rPr lang="en-US" sz="1600" b="1" dirty="0">
                <a:solidFill>
                  <a:srgbClr val="1C1B22"/>
                </a:solidFill>
                <a:latin typeface="Arial" pitchFamily="34" charset="0"/>
                <a:ea typeface="Arial" pitchFamily="34" charset="-122"/>
                <a:cs typeface="Arial" pitchFamily="34" charset="-120"/>
              </a:rPr>
              <a:t>go</a:t>
            </a:r>
            <a:endParaRPr lang="en-US" sz="1600" dirty="0"/>
          </a:p>
          <a:p>
            <a:pPr indent="0" marL="0">
              <a:buNone/>
            </a:pPr>
            <a:r>
              <a:rPr lang="en-US" sz="1150" dirty="0">
                <a:solidFill>
                  <a:srgbClr val="5B5968"/>
                </a:solidFill>
                <a:latin typeface="Calibri" pitchFamily="34" charset="0"/>
                <a:ea typeface="Calibri" pitchFamily="34" charset="-122"/>
                <a:cs typeface="Calibri" pitchFamily="34" charset="-120"/>
              </a:rPr>
              <a:t>Organelle map</a:t>
            </a:r>
            <a:endParaRPr lang="en-US" sz="1600" dirty="0"/>
          </a:p>
        </p:txBody>
      </p:sp>
      <p:sp>
        <p:nvSpPr>
          <p:cNvPr id="7" name="Text 4"/>
          <p:cNvSpPr txBox="1"/>
          <p:nvPr/>
        </p:nvSpPr>
        <p:spPr>
          <a:xfrm>
            <a:off x="731520" y="2221992"/>
            <a:ext cx="2231136" cy="274320"/>
          </a:xfrm>
          <a:prstGeom prst="rect">
            <a:avLst/>
          </a:prstGeom>
          <a:noFill/>
          <a:ln/>
        </p:spPr>
        <p:txBody>
          <a:bodyPr wrap="square" lIns="0" tIns="0" rIns="0" bIns="0" rtlCol="0" anchor="ctr"/>
          <a:lstStyle/>
          <a:p>
            <a:pPr indent="0" marL="0">
              <a:buNone/>
            </a:pPr>
            <a:r>
              <a:rPr lang="en-US" sz="1050" b="1" dirty="0">
                <a:solidFill>
                  <a:srgbClr val="0E7490"/>
                </a:solidFill>
                <a:latin typeface="Arial" pitchFamily="34" charset="0"/>
                <a:ea typeface="Arial" pitchFamily="34" charset="-122"/>
                <a:cs typeface="Arial" pitchFamily="34" charset="-120"/>
              </a:rPr>
              <a:t>RUN (to be confirmed) · STORE</a:t>
            </a:r>
            <a:endParaRPr lang="en-US" sz="1050" dirty="0"/>
          </a:p>
        </p:txBody>
      </p:sp>
      <p:sp>
        <p:nvSpPr>
          <p:cNvPr id="8" name="Text 5"/>
          <p:cNvSpPr txBox="1"/>
          <p:nvPr/>
        </p:nvSpPr>
        <p:spPr>
          <a:xfrm>
            <a:off x="731520" y="2514600"/>
            <a:ext cx="2231136" cy="960120"/>
          </a:xfrm>
          <a:prstGeom prst="rect">
            <a:avLst/>
          </a:prstGeom>
          <a:noFill/>
          <a:ln/>
        </p:spPr>
        <p:txBody>
          <a:bodyPr wrap="square" lIns="0" tIns="0" rIns="0" bIns="0" rtlCol="0" anchor="t"/>
          <a:lstStyle/>
          <a:p>
            <a:pPr indent="0" marL="0">
              <a:buNone/>
            </a:pPr>
            <a:r>
              <a:rPr lang="en-US" sz="1250" dirty="0">
                <a:solidFill>
                  <a:srgbClr val="1C1B22"/>
                </a:solidFill>
                <a:latin typeface="Calibri" pitchFamily="34" charset="0"/>
                <a:ea typeface="Calibri" pitchFamily="34" charset="-122"/>
                <a:cs typeface="Calibri" pitchFamily="34" charset="-120"/>
              </a:rPr>
              <a:t>Store each protein's organelle assignment from Gene Ontology, so any result can be grouped by organelle.</a:t>
            </a:r>
            <a:endParaRPr lang="en-US" sz="1250" dirty="0"/>
          </a:p>
        </p:txBody>
      </p:sp>
      <p:sp>
        <p:nvSpPr>
          <p:cNvPr id="9" name="Shape 6"/>
          <p:cNvSpPr/>
          <p:nvPr/>
        </p:nvSpPr>
        <p:spPr>
          <a:xfrm>
            <a:off x="3374136" y="1325880"/>
            <a:ext cx="2596896" cy="2240280"/>
          </a:xfrm>
          <a:prstGeom prst="roundRect">
            <a:avLst>
              <a:gd name="adj" fmla="val 4082"/>
            </a:avLst>
          </a:prstGeom>
          <a:solidFill>
            <a:srgbClr val="F6F5FB"/>
          </a:solidFill>
          <a:ln w="12700">
            <a:solidFill>
              <a:srgbClr val="E4E1EA"/>
            </a:solidFill>
            <a:prstDash val="solid"/>
          </a:ln>
        </p:spPr>
      </p:sp>
      <p:sp>
        <p:nvSpPr>
          <p:cNvPr id="10" name="Shape 7"/>
          <p:cNvSpPr/>
          <p:nvPr/>
        </p:nvSpPr>
        <p:spPr>
          <a:xfrm>
            <a:off x="3557016" y="1508760"/>
            <a:ext cx="548640" cy="548640"/>
          </a:xfrm>
          <a:prstGeom prst="ellipse">
            <a:avLst/>
          </a:prstGeom>
          <a:solidFill>
            <a:srgbClr val="4F46E5"/>
          </a:solidFill>
          <a:ln w="12700">
            <a:solidFill>
              <a:srgbClr val="4F46E5"/>
            </a:solidFill>
            <a:prstDash val="solid"/>
          </a:ln>
        </p:spPr>
      </p:sp>
      <p:pic>
        <p:nvPicPr>
          <p:cNvPr id="11" name="Image 1" descr="preencoded.png">    </p:cNvPr>
          <p:cNvPicPr>
            <a:picLocks noChangeAspect="1"/>
          </p:cNvPicPr>
          <p:nvPr/>
        </p:nvPicPr>
        <p:blipFill>
          <a:blip r:embed="rId2"/>
          <a:stretch>
            <a:fillRect/>
          </a:stretch>
        </p:blipFill>
        <p:spPr>
          <a:xfrm>
            <a:off x="3688690" y="1640434"/>
            <a:ext cx="285293" cy="285293"/>
          </a:xfrm>
          <a:prstGeom prst="rect">
            <a:avLst/>
          </a:prstGeom>
        </p:spPr>
      </p:pic>
      <p:sp>
        <p:nvSpPr>
          <p:cNvPr id="12" name="Text 8"/>
          <p:cNvSpPr txBox="1"/>
          <p:nvPr/>
        </p:nvSpPr>
        <p:spPr>
          <a:xfrm>
            <a:off x="4215384" y="1463040"/>
            <a:ext cx="1636776" cy="685800"/>
          </a:xfrm>
          <a:prstGeom prst="rect">
            <a:avLst/>
          </a:prstGeom>
          <a:noFill/>
          <a:ln/>
        </p:spPr>
        <p:txBody>
          <a:bodyPr wrap="square" lIns="0" tIns="0" rIns="0" bIns="0" rtlCol="0" anchor="ctr"/>
          <a:lstStyle/>
          <a:p>
            <a:pPr indent="0" marL="0">
              <a:buNone/>
            </a:pPr>
            <a:r>
              <a:rPr lang="en-US" sz="1600" b="1" dirty="0">
                <a:solidFill>
                  <a:srgbClr val="1C1B22"/>
                </a:solidFill>
                <a:latin typeface="Arial" pitchFamily="34" charset="0"/>
                <a:ea typeface="Arial" pitchFamily="34" charset="-122"/>
                <a:cs typeface="Arial" pitchFamily="34" charset="-120"/>
              </a:rPr>
              <a:t>logs</a:t>
            </a:r>
            <a:endParaRPr lang="en-US" sz="1600" dirty="0"/>
          </a:p>
          <a:p>
            <a:pPr indent="0" marL="0">
              <a:buNone/>
            </a:pPr>
            <a:r>
              <a:rPr lang="en-US" sz="1150" dirty="0">
                <a:solidFill>
                  <a:srgbClr val="5B5968"/>
                </a:solidFill>
                <a:latin typeface="Calibri" pitchFamily="34" charset="0"/>
                <a:ea typeface="Calibri" pitchFamily="34" charset="-122"/>
                <a:cs typeface="Calibri" pitchFamily="34" charset="-120"/>
              </a:rPr>
              <a:t>Gene identity and orthology</a:t>
            </a:r>
            <a:endParaRPr lang="en-US" sz="1600" dirty="0"/>
          </a:p>
        </p:txBody>
      </p:sp>
      <p:sp>
        <p:nvSpPr>
          <p:cNvPr id="13" name="Text 9"/>
          <p:cNvSpPr txBox="1"/>
          <p:nvPr/>
        </p:nvSpPr>
        <p:spPr>
          <a:xfrm>
            <a:off x="3557016" y="2221992"/>
            <a:ext cx="2231136" cy="274320"/>
          </a:xfrm>
          <a:prstGeom prst="rect">
            <a:avLst/>
          </a:prstGeom>
          <a:noFill/>
          <a:ln/>
        </p:spPr>
        <p:txBody>
          <a:bodyPr wrap="square" lIns="0" tIns="0" rIns="0" bIns="0" rtlCol="0" anchor="ctr"/>
          <a:lstStyle/>
          <a:p>
            <a:pPr indent="0" marL="0">
              <a:buNone/>
            </a:pPr>
            <a:r>
              <a:rPr lang="en-US" sz="1050" b="1" dirty="0">
                <a:solidFill>
                  <a:srgbClr val="4F46E5"/>
                </a:solidFill>
                <a:latin typeface="Arial" pitchFamily="34" charset="0"/>
                <a:ea typeface="Arial" pitchFamily="34" charset="-122"/>
                <a:cs typeface="Arial" pitchFamily="34" charset="-120"/>
              </a:rPr>
              <a:t>RUN · STORE</a:t>
            </a:r>
            <a:endParaRPr lang="en-US" sz="1050" dirty="0"/>
          </a:p>
        </p:txBody>
      </p:sp>
      <p:sp>
        <p:nvSpPr>
          <p:cNvPr id="14" name="Text 10"/>
          <p:cNvSpPr txBox="1"/>
          <p:nvPr/>
        </p:nvSpPr>
        <p:spPr>
          <a:xfrm>
            <a:off x="3557016" y="2514600"/>
            <a:ext cx="2231136" cy="960120"/>
          </a:xfrm>
          <a:prstGeom prst="rect">
            <a:avLst/>
          </a:prstGeom>
          <a:noFill/>
          <a:ln/>
        </p:spPr>
        <p:txBody>
          <a:bodyPr wrap="square" lIns="0" tIns="0" rIns="0" bIns="0" rtlCol="0" anchor="t"/>
          <a:lstStyle/>
          <a:p>
            <a:pPr indent="0" marL="0">
              <a:buNone/>
            </a:pPr>
            <a:r>
              <a:rPr lang="en-US" sz="1250" dirty="0">
                <a:solidFill>
                  <a:srgbClr val="1C1B22"/>
                </a:solidFill>
                <a:latin typeface="Calibri" pitchFamily="34" charset="0"/>
                <a:ea typeface="Calibri" pitchFamily="34" charset="-122"/>
                <a:cs typeface="Calibri" pitchFamily="34" charset="-120"/>
              </a:rPr>
              <a:t>Run its gene resolver on each searched database, so gene names are checked and species can be compared.</a:t>
            </a:r>
            <a:endParaRPr lang="en-US" sz="1250" dirty="0"/>
          </a:p>
        </p:txBody>
      </p:sp>
      <p:sp>
        <p:nvSpPr>
          <p:cNvPr id="15" name="Shape 11"/>
          <p:cNvSpPr/>
          <p:nvPr/>
        </p:nvSpPr>
        <p:spPr>
          <a:xfrm>
            <a:off x="6199632" y="1325880"/>
            <a:ext cx="2596896" cy="2240280"/>
          </a:xfrm>
          <a:prstGeom prst="roundRect">
            <a:avLst>
              <a:gd name="adj" fmla="val 4082"/>
            </a:avLst>
          </a:prstGeom>
          <a:solidFill>
            <a:srgbClr val="F6F5FB"/>
          </a:solidFill>
          <a:ln w="12700">
            <a:solidFill>
              <a:srgbClr val="E4E1EA"/>
            </a:solidFill>
            <a:prstDash val="solid"/>
          </a:ln>
        </p:spPr>
      </p:sp>
      <p:sp>
        <p:nvSpPr>
          <p:cNvPr id="16" name="Shape 12"/>
          <p:cNvSpPr/>
          <p:nvPr/>
        </p:nvSpPr>
        <p:spPr>
          <a:xfrm>
            <a:off x="6382512" y="1508760"/>
            <a:ext cx="548640" cy="548640"/>
          </a:xfrm>
          <a:prstGeom prst="ellipse">
            <a:avLst/>
          </a:prstGeom>
          <a:solidFill>
            <a:srgbClr val="A21CAF"/>
          </a:solidFill>
          <a:ln w="12700">
            <a:solidFill>
              <a:srgbClr val="A21CAF"/>
            </a:solidFill>
            <a:prstDash val="solid"/>
          </a:ln>
        </p:spPr>
      </p:sp>
      <p:pic>
        <p:nvPicPr>
          <p:cNvPr id="17" name="Image 2" descr="preencoded.png">    </p:cNvPr>
          <p:cNvPicPr>
            <a:picLocks noChangeAspect="1"/>
          </p:cNvPicPr>
          <p:nvPr/>
        </p:nvPicPr>
        <p:blipFill>
          <a:blip r:embed="rId3"/>
          <a:stretch>
            <a:fillRect/>
          </a:stretch>
        </p:blipFill>
        <p:spPr>
          <a:xfrm>
            <a:off x="6514186" y="1640434"/>
            <a:ext cx="285293" cy="285293"/>
          </a:xfrm>
          <a:prstGeom prst="rect">
            <a:avLst/>
          </a:prstGeom>
        </p:spPr>
      </p:pic>
      <p:sp>
        <p:nvSpPr>
          <p:cNvPr id="18" name="Text 13"/>
          <p:cNvSpPr txBox="1"/>
          <p:nvPr/>
        </p:nvSpPr>
        <p:spPr>
          <a:xfrm>
            <a:off x="7040880" y="1463040"/>
            <a:ext cx="1636776" cy="685800"/>
          </a:xfrm>
          <a:prstGeom prst="rect">
            <a:avLst/>
          </a:prstGeom>
          <a:noFill/>
          <a:ln/>
        </p:spPr>
        <p:txBody>
          <a:bodyPr wrap="square" lIns="0" tIns="0" rIns="0" bIns="0" rtlCol="0" anchor="ctr"/>
          <a:lstStyle/>
          <a:p>
            <a:pPr indent="0" marL="0">
              <a:buNone/>
            </a:pPr>
            <a:r>
              <a:rPr lang="en-US" sz="1600" b="1" dirty="0">
                <a:solidFill>
                  <a:srgbClr val="1C1B22"/>
                </a:solidFill>
                <a:latin typeface="Arial" pitchFamily="34" charset="0"/>
                <a:ea typeface="Arial" pitchFamily="34" charset="-122"/>
                <a:cs typeface="Arial" pitchFamily="34" charset="-120"/>
              </a:rPr>
              <a:t>ptmQtl</a:t>
            </a:r>
            <a:endParaRPr lang="en-US" sz="1600" dirty="0"/>
          </a:p>
          <a:p>
            <a:pPr indent="0" marL="0">
              <a:buNone/>
            </a:pPr>
            <a:r>
              <a:rPr lang="en-US" sz="1150" dirty="0">
                <a:solidFill>
                  <a:srgbClr val="5B5968"/>
                </a:solidFill>
                <a:latin typeface="Calibri" pitchFamily="34" charset="0"/>
                <a:ea typeface="Calibri" pitchFamily="34" charset="-122"/>
                <a:cs typeface="Calibri" pitchFamily="34" charset="-120"/>
              </a:rPr>
              <a:t>PTM statistics</a:t>
            </a:r>
            <a:endParaRPr lang="en-US" sz="1600" dirty="0"/>
          </a:p>
        </p:txBody>
      </p:sp>
      <p:sp>
        <p:nvSpPr>
          <p:cNvPr id="19" name="Text 14"/>
          <p:cNvSpPr txBox="1"/>
          <p:nvPr/>
        </p:nvSpPr>
        <p:spPr>
          <a:xfrm>
            <a:off x="6382512" y="2221992"/>
            <a:ext cx="2231136" cy="274320"/>
          </a:xfrm>
          <a:prstGeom prst="rect">
            <a:avLst/>
          </a:prstGeom>
          <a:noFill/>
          <a:ln/>
        </p:spPr>
        <p:txBody>
          <a:bodyPr wrap="square" lIns="0" tIns="0" rIns="0" bIns="0" rtlCol="0" anchor="ctr"/>
          <a:lstStyle/>
          <a:p>
            <a:pPr indent="0" marL="0">
              <a:buNone/>
            </a:pPr>
            <a:r>
              <a:rPr lang="en-US" sz="1050" b="1" dirty="0">
                <a:solidFill>
                  <a:srgbClr val="A21CAF"/>
                </a:solidFill>
                <a:latin typeface="Arial" pitchFamily="34" charset="0"/>
                <a:ea typeface="Arial" pitchFamily="34" charset="-122"/>
                <a:cs typeface="Arial" pitchFamily="34" charset="-120"/>
              </a:rPr>
              <a:t>RUN · STORE</a:t>
            </a:r>
            <a:endParaRPr lang="en-US" sz="1050" dirty="0"/>
          </a:p>
        </p:txBody>
      </p:sp>
      <p:sp>
        <p:nvSpPr>
          <p:cNvPr id="20" name="Text 15"/>
          <p:cNvSpPr txBox="1"/>
          <p:nvPr/>
        </p:nvSpPr>
        <p:spPr>
          <a:xfrm>
            <a:off x="6382512" y="2514600"/>
            <a:ext cx="2231136" cy="960120"/>
          </a:xfrm>
          <a:prstGeom prst="rect">
            <a:avLst/>
          </a:prstGeom>
          <a:noFill/>
          <a:ln/>
        </p:spPr>
        <p:txBody>
          <a:bodyPr wrap="square" lIns="0" tIns="0" rIns="0" bIns="0" rtlCol="0" anchor="t"/>
          <a:lstStyle/>
          <a:p>
            <a:pPr indent="0" marL="0">
              <a:buNone/>
            </a:pPr>
            <a:r>
              <a:rPr lang="en-US" sz="1250" dirty="0">
                <a:solidFill>
                  <a:srgbClr val="1C1B22"/>
                </a:solidFill>
                <a:latin typeface="Calibri" pitchFamily="34" charset="0"/>
                <a:ea typeface="Calibri" pitchFamily="34" charset="-122"/>
                <a:cs typeface="Calibri" pitchFamily="34" charset="-120"/>
              </a:rPr>
              <a:t>Run its models on the stored data: which PTM sites change with age or other traits, and which occur together.</a:t>
            </a:r>
            <a:endParaRPr lang="en-US" sz="1250" dirty="0"/>
          </a:p>
        </p:txBody>
      </p:sp>
      <p:sp>
        <p:nvSpPr>
          <p:cNvPr id="21" name="Shape 16"/>
          <p:cNvSpPr/>
          <p:nvPr/>
        </p:nvSpPr>
        <p:spPr>
          <a:xfrm>
            <a:off x="9025128" y="1325880"/>
            <a:ext cx="2596896" cy="2240280"/>
          </a:xfrm>
          <a:prstGeom prst="roundRect">
            <a:avLst>
              <a:gd name="adj" fmla="val 4082"/>
            </a:avLst>
          </a:prstGeom>
          <a:solidFill>
            <a:srgbClr val="F6F5FB"/>
          </a:solidFill>
          <a:ln w="12700">
            <a:solidFill>
              <a:srgbClr val="E4E1EA"/>
            </a:solidFill>
            <a:prstDash val="solid"/>
          </a:ln>
        </p:spPr>
      </p:sp>
      <p:sp>
        <p:nvSpPr>
          <p:cNvPr id="22" name="Shape 17"/>
          <p:cNvSpPr/>
          <p:nvPr/>
        </p:nvSpPr>
        <p:spPr>
          <a:xfrm>
            <a:off x="9208008" y="1508760"/>
            <a:ext cx="548640" cy="548640"/>
          </a:xfrm>
          <a:prstGeom prst="ellipse">
            <a:avLst/>
          </a:prstGeom>
          <a:solidFill>
            <a:srgbClr val="D97706"/>
          </a:solidFill>
          <a:ln w="12700">
            <a:solidFill>
              <a:srgbClr val="D97706"/>
            </a:solidFill>
            <a:prstDash val="solid"/>
          </a:ln>
        </p:spPr>
      </p:sp>
      <p:pic>
        <p:nvPicPr>
          <p:cNvPr id="23" name="Image 3" descr="preencoded.png">    </p:cNvPr>
          <p:cNvPicPr>
            <a:picLocks noChangeAspect="1"/>
          </p:cNvPicPr>
          <p:nvPr/>
        </p:nvPicPr>
        <p:blipFill>
          <a:blip r:embed="rId4"/>
          <a:stretch>
            <a:fillRect/>
          </a:stretch>
        </p:blipFill>
        <p:spPr>
          <a:xfrm>
            <a:off x="9339682" y="1640434"/>
            <a:ext cx="285293" cy="285293"/>
          </a:xfrm>
          <a:prstGeom prst="rect">
            <a:avLst/>
          </a:prstGeom>
        </p:spPr>
      </p:pic>
      <p:sp>
        <p:nvSpPr>
          <p:cNvPr id="24" name="Text 18"/>
          <p:cNvSpPr txBox="1"/>
          <p:nvPr/>
        </p:nvSpPr>
        <p:spPr>
          <a:xfrm>
            <a:off x="9866376" y="1463040"/>
            <a:ext cx="1636776" cy="685800"/>
          </a:xfrm>
          <a:prstGeom prst="rect">
            <a:avLst/>
          </a:prstGeom>
          <a:noFill/>
          <a:ln/>
        </p:spPr>
        <p:txBody>
          <a:bodyPr wrap="square" lIns="0" tIns="0" rIns="0" bIns="0" rtlCol="0" anchor="ctr"/>
          <a:lstStyle/>
          <a:p>
            <a:pPr indent="0" marL="0">
              <a:buNone/>
            </a:pPr>
            <a:r>
              <a:rPr lang="en-US" sz="1600" b="1" dirty="0">
                <a:solidFill>
                  <a:srgbClr val="1C1B22"/>
                </a:solidFill>
                <a:latin typeface="Arial" pitchFamily="34" charset="0"/>
                <a:ea typeface="Arial" pitchFamily="34" charset="-122"/>
                <a:cs typeface="Arial" pitchFamily="34" charset="-120"/>
              </a:rPr>
              <a:t>phred</a:t>
            </a:r>
            <a:endParaRPr lang="en-US" sz="1600" dirty="0"/>
          </a:p>
          <a:p>
            <a:pPr indent="0" marL="0">
              <a:buNone/>
            </a:pPr>
            <a:r>
              <a:rPr lang="en-US" sz="1150" dirty="0">
                <a:solidFill>
                  <a:srgbClr val="5B5968"/>
                </a:solidFill>
                <a:latin typeface="Calibri" pitchFamily="34" charset="0"/>
                <a:ea typeface="Calibri" pitchFamily="34" charset="-122"/>
                <a:cs typeface="Calibri" pitchFamily="34" charset="-120"/>
              </a:rPr>
              <a:t>Localization confidence</a:t>
            </a:r>
            <a:endParaRPr lang="en-US" sz="1600" dirty="0"/>
          </a:p>
        </p:txBody>
      </p:sp>
      <p:sp>
        <p:nvSpPr>
          <p:cNvPr id="25" name="Text 19"/>
          <p:cNvSpPr txBox="1"/>
          <p:nvPr/>
        </p:nvSpPr>
        <p:spPr>
          <a:xfrm>
            <a:off x="9208008" y="2221992"/>
            <a:ext cx="2231136" cy="274320"/>
          </a:xfrm>
          <a:prstGeom prst="rect">
            <a:avLst/>
          </a:prstGeom>
          <a:noFill/>
          <a:ln/>
        </p:spPr>
        <p:txBody>
          <a:bodyPr wrap="square" lIns="0" tIns="0" rIns="0" bIns="0" rtlCol="0" anchor="ctr"/>
          <a:lstStyle/>
          <a:p>
            <a:pPr indent="0" marL="0">
              <a:buNone/>
            </a:pPr>
            <a:r>
              <a:rPr lang="en-US" sz="1050" b="1" dirty="0">
                <a:solidFill>
                  <a:srgbClr val="D97706"/>
                </a:solidFill>
                <a:latin typeface="Arial" pitchFamily="34" charset="0"/>
                <a:ea typeface="Arial" pitchFamily="34" charset="-122"/>
                <a:cs typeface="Arial" pitchFamily="34" charset="-120"/>
              </a:rPr>
              <a:t>STORE</a:t>
            </a:r>
            <a:endParaRPr lang="en-US" sz="1050" dirty="0"/>
          </a:p>
        </p:txBody>
      </p:sp>
      <p:sp>
        <p:nvSpPr>
          <p:cNvPr id="26" name="Text 20"/>
          <p:cNvSpPr txBox="1"/>
          <p:nvPr/>
        </p:nvSpPr>
        <p:spPr>
          <a:xfrm>
            <a:off x="9208008" y="2514600"/>
            <a:ext cx="2231136" cy="960120"/>
          </a:xfrm>
          <a:prstGeom prst="rect">
            <a:avLst/>
          </a:prstGeom>
          <a:noFill/>
          <a:ln/>
        </p:spPr>
        <p:txBody>
          <a:bodyPr wrap="square" lIns="0" tIns="0" rIns="0" bIns="0" rtlCol="0" anchor="t"/>
          <a:lstStyle/>
          <a:p>
            <a:pPr indent="0" marL="0">
              <a:buNone/>
            </a:pPr>
            <a:r>
              <a:rPr lang="en-US" sz="1250" dirty="0">
                <a:solidFill>
                  <a:srgbClr val="1C1B22"/>
                </a:solidFill>
                <a:latin typeface="Calibri" pitchFamily="34" charset="0"/>
                <a:ea typeface="Calibri" pitchFamily="34" charset="-122"/>
                <a:cs typeface="Calibri" pitchFamily="34" charset="-120"/>
              </a:rPr>
              <a:t>Runs inside the search. dataRepo stores, per site, the confidence that a PTM sits on that residue.</a:t>
            </a:r>
            <a:endParaRPr lang="en-US" sz="1250" dirty="0"/>
          </a:p>
        </p:txBody>
      </p:sp>
      <p:sp>
        <p:nvSpPr>
          <p:cNvPr id="27" name="Shape 21"/>
          <p:cNvSpPr/>
          <p:nvPr/>
        </p:nvSpPr>
        <p:spPr>
          <a:xfrm>
            <a:off x="548640" y="3794760"/>
            <a:ext cx="2596896" cy="2240280"/>
          </a:xfrm>
          <a:prstGeom prst="roundRect">
            <a:avLst>
              <a:gd name="adj" fmla="val 4082"/>
            </a:avLst>
          </a:prstGeom>
          <a:solidFill>
            <a:srgbClr val="F6F5FB"/>
          </a:solidFill>
          <a:ln w="12700">
            <a:solidFill>
              <a:srgbClr val="E4E1EA"/>
            </a:solidFill>
            <a:prstDash val="solid"/>
          </a:ln>
        </p:spPr>
      </p:sp>
      <p:sp>
        <p:nvSpPr>
          <p:cNvPr id="28" name="Shape 22"/>
          <p:cNvSpPr/>
          <p:nvPr/>
        </p:nvSpPr>
        <p:spPr>
          <a:xfrm>
            <a:off x="731520" y="3977640"/>
            <a:ext cx="548640" cy="548640"/>
          </a:xfrm>
          <a:prstGeom prst="ellipse">
            <a:avLst/>
          </a:prstGeom>
          <a:solidFill>
            <a:srgbClr val="15803D"/>
          </a:solidFill>
          <a:ln w="12700">
            <a:solidFill>
              <a:srgbClr val="15803D"/>
            </a:solidFill>
            <a:prstDash val="solid"/>
          </a:ln>
        </p:spPr>
      </p:sp>
      <p:pic>
        <p:nvPicPr>
          <p:cNvPr id="29" name="Image 4" descr="preencoded.png">    </p:cNvPr>
          <p:cNvPicPr>
            <a:picLocks noChangeAspect="1"/>
          </p:cNvPicPr>
          <p:nvPr/>
        </p:nvPicPr>
        <p:blipFill>
          <a:blip r:embed="rId5"/>
          <a:stretch>
            <a:fillRect/>
          </a:stretch>
        </p:blipFill>
        <p:spPr>
          <a:xfrm>
            <a:off x="863194" y="4109314"/>
            <a:ext cx="285293" cy="285293"/>
          </a:xfrm>
          <a:prstGeom prst="rect">
            <a:avLst/>
          </a:prstGeom>
        </p:spPr>
      </p:pic>
      <p:sp>
        <p:nvSpPr>
          <p:cNvPr id="30" name="Text 23"/>
          <p:cNvSpPr txBox="1"/>
          <p:nvPr/>
        </p:nvSpPr>
        <p:spPr>
          <a:xfrm>
            <a:off x="1389888" y="3931920"/>
            <a:ext cx="1636776" cy="685800"/>
          </a:xfrm>
          <a:prstGeom prst="rect">
            <a:avLst/>
          </a:prstGeom>
          <a:noFill/>
          <a:ln/>
        </p:spPr>
        <p:txBody>
          <a:bodyPr wrap="square" lIns="0" tIns="0" rIns="0" bIns="0" rtlCol="0" anchor="ctr"/>
          <a:lstStyle/>
          <a:p>
            <a:pPr indent="0" marL="0">
              <a:buNone/>
            </a:pPr>
            <a:r>
              <a:rPr lang="en-US" sz="1600" b="1" dirty="0">
                <a:solidFill>
                  <a:srgbClr val="1C1B22"/>
                </a:solidFill>
                <a:latin typeface="Arial" pitchFamily="34" charset="0"/>
                <a:ea typeface="Arial" pitchFamily="34" charset="-122"/>
                <a:cs typeface="Arial" pitchFamily="34" charset="-120"/>
              </a:rPr>
              <a:t>sdrf</a:t>
            </a:r>
            <a:endParaRPr lang="en-US" sz="1600" dirty="0"/>
          </a:p>
          <a:p>
            <a:pPr indent="0" marL="0">
              <a:buNone/>
            </a:pPr>
            <a:r>
              <a:rPr lang="en-US" sz="1150" dirty="0">
                <a:solidFill>
                  <a:srgbClr val="5B5968"/>
                </a:solidFill>
                <a:latin typeface="Calibri" pitchFamily="34" charset="0"/>
                <a:ea typeface="Calibri" pitchFamily="34" charset="-122"/>
                <a:cs typeface="Calibri" pitchFamily="34" charset="-120"/>
              </a:rPr>
              <a:t>Sample metadata</a:t>
            </a:r>
            <a:endParaRPr lang="en-US" sz="1600" dirty="0"/>
          </a:p>
        </p:txBody>
      </p:sp>
      <p:sp>
        <p:nvSpPr>
          <p:cNvPr id="31" name="Text 24"/>
          <p:cNvSpPr txBox="1"/>
          <p:nvPr/>
        </p:nvSpPr>
        <p:spPr>
          <a:xfrm>
            <a:off x="731520" y="4690872"/>
            <a:ext cx="2231136" cy="274320"/>
          </a:xfrm>
          <a:prstGeom prst="rect">
            <a:avLst/>
          </a:prstGeom>
          <a:noFill/>
          <a:ln/>
        </p:spPr>
        <p:txBody>
          <a:bodyPr wrap="square" lIns="0" tIns="0" rIns="0" bIns="0" rtlCol="0" anchor="ctr"/>
          <a:lstStyle/>
          <a:p>
            <a:pPr indent="0" marL="0">
              <a:buNone/>
            </a:pPr>
            <a:r>
              <a:rPr lang="en-US" sz="1050" b="1" dirty="0">
                <a:solidFill>
                  <a:srgbClr val="15803D"/>
                </a:solidFill>
                <a:latin typeface="Arial" pitchFamily="34" charset="0"/>
                <a:ea typeface="Arial" pitchFamily="34" charset="-122"/>
                <a:cs typeface="Arial" pitchFamily="34" charset="-120"/>
              </a:rPr>
              <a:t>STORE</a:t>
            </a:r>
            <a:endParaRPr lang="en-US" sz="1050" dirty="0"/>
          </a:p>
        </p:txBody>
      </p:sp>
      <p:sp>
        <p:nvSpPr>
          <p:cNvPr id="32" name="Text 25"/>
          <p:cNvSpPr txBox="1"/>
          <p:nvPr/>
        </p:nvSpPr>
        <p:spPr>
          <a:xfrm>
            <a:off x="731520" y="4983480"/>
            <a:ext cx="2231136" cy="960120"/>
          </a:xfrm>
          <a:prstGeom prst="rect">
            <a:avLst/>
          </a:prstGeom>
          <a:noFill/>
          <a:ln/>
        </p:spPr>
        <p:txBody>
          <a:bodyPr wrap="square" lIns="0" tIns="0" rIns="0" bIns="0" rtlCol="0" anchor="t"/>
          <a:lstStyle/>
          <a:p>
            <a:pPr indent="0" marL="0">
              <a:buNone/>
            </a:pPr>
            <a:r>
              <a:rPr lang="en-US" sz="1250" dirty="0">
                <a:solidFill>
                  <a:srgbClr val="1C1B22"/>
                </a:solidFill>
                <a:latin typeface="Calibri" pitchFamily="34" charset="0"/>
                <a:ea typeface="Calibri" pitchFamily="34" charset="-122"/>
                <a:cs typeface="Calibri" pitchFamily="34" charset="-120"/>
              </a:rPr>
              <a:t>Store each sample's age, sex and tissue, with ages put on one scale by sdrf's normalizer.</a:t>
            </a:r>
            <a:endParaRPr lang="en-US" sz="1250" dirty="0"/>
          </a:p>
        </p:txBody>
      </p:sp>
      <p:sp>
        <p:nvSpPr>
          <p:cNvPr id="33" name="Shape 26"/>
          <p:cNvSpPr/>
          <p:nvPr/>
        </p:nvSpPr>
        <p:spPr>
          <a:xfrm>
            <a:off x="3374136" y="3794760"/>
            <a:ext cx="2596896" cy="2240280"/>
          </a:xfrm>
          <a:prstGeom prst="roundRect">
            <a:avLst>
              <a:gd name="adj" fmla="val 4082"/>
            </a:avLst>
          </a:prstGeom>
          <a:solidFill>
            <a:srgbClr val="F6F5FB"/>
          </a:solidFill>
          <a:ln w="12700">
            <a:solidFill>
              <a:srgbClr val="E4E1EA"/>
            </a:solidFill>
            <a:prstDash val="solid"/>
          </a:ln>
        </p:spPr>
      </p:sp>
      <p:sp>
        <p:nvSpPr>
          <p:cNvPr id="34" name="Shape 27"/>
          <p:cNvSpPr/>
          <p:nvPr/>
        </p:nvSpPr>
        <p:spPr>
          <a:xfrm>
            <a:off x="3557016" y="3977640"/>
            <a:ext cx="548640" cy="548640"/>
          </a:xfrm>
          <a:prstGeom prst="ellipse">
            <a:avLst/>
          </a:prstGeom>
          <a:solidFill>
            <a:srgbClr val="0E7490"/>
          </a:solidFill>
          <a:ln w="12700">
            <a:solidFill>
              <a:srgbClr val="0E7490"/>
            </a:solidFill>
            <a:prstDash val="solid"/>
          </a:ln>
        </p:spPr>
      </p:sp>
      <p:pic>
        <p:nvPicPr>
          <p:cNvPr id="35" name="Image 5" descr="preencoded.png">    </p:cNvPr>
          <p:cNvPicPr>
            <a:picLocks noChangeAspect="1"/>
          </p:cNvPicPr>
          <p:nvPr/>
        </p:nvPicPr>
        <p:blipFill>
          <a:blip r:embed="rId6"/>
          <a:stretch>
            <a:fillRect/>
          </a:stretch>
        </p:blipFill>
        <p:spPr>
          <a:xfrm>
            <a:off x="3688690" y="4109314"/>
            <a:ext cx="285293" cy="285293"/>
          </a:xfrm>
          <a:prstGeom prst="rect">
            <a:avLst/>
          </a:prstGeom>
        </p:spPr>
      </p:pic>
      <p:sp>
        <p:nvSpPr>
          <p:cNvPr id="36" name="Text 28"/>
          <p:cNvSpPr txBox="1"/>
          <p:nvPr/>
        </p:nvSpPr>
        <p:spPr>
          <a:xfrm>
            <a:off x="4215384" y="3931920"/>
            <a:ext cx="1636776" cy="685800"/>
          </a:xfrm>
          <a:prstGeom prst="rect">
            <a:avLst/>
          </a:prstGeom>
          <a:noFill/>
          <a:ln/>
        </p:spPr>
        <p:txBody>
          <a:bodyPr wrap="square" lIns="0" tIns="0" rIns="0" bIns="0" rtlCol="0" anchor="ctr"/>
          <a:lstStyle/>
          <a:p>
            <a:pPr indent="0" marL="0">
              <a:buNone/>
            </a:pPr>
            <a:r>
              <a:rPr lang="en-US" sz="1600" b="1" dirty="0">
                <a:solidFill>
                  <a:srgbClr val="1C1B22"/>
                </a:solidFill>
                <a:latin typeface="Arial" pitchFamily="34" charset="0"/>
                <a:ea typeface="Arial" pitchFamily="34" charset="-122"/>
                <a:cs typeface="Arial" pitchFamily="34" charset="-120"/>
              </a:rPr>
              <a:t>QuantProject</a:t>
            </a:r>
            <a:endParaRPr lang="en-US" sz="1600" dirty="0"/>
          </a:p>
          <a:p>
            <a:pPr indent="0" marL="0">
              <a:buNone/>
            </a:pPr>
            <a:r>
              <a:rPr lang="en-US" sz="1150" dirty="0">
                <a:solidFill>
                  <a:srgbClr val="5B5968"/>
                </a:solidFill>
                <a:latin typeface="Calibri" pitchFamily="34" charset="0"/>
                <a:ea typeface="Calibri" pitchFamily="34" charset="-122"/>
                <a:cs typeface="Calibri" pitchFamily="34" charset="-120"/>
              </a:rPr>
              <a:t>Quantification and definitions</a:t>
            </a:r>
            <a:endParaRPr lang="en-US" sz="1600" dirty="0"/>
          </a:p>
        </p:txBody>
      </p:sp>
      <p:sp>
        <p:nvSpPr>
          <p:cNvPr id="37" name="Text 29"/>
          <p:cNvSpPr txBox="1"/>
          <p:nvPr/>
        </p:nvSpPr>
        <p:spPr>
          <a:xfrm>
            <a:off x="3557016" y="4690872"/>
            <a:ext cx="2231136" cy="274320"/>
          </a:xfrm>
          <a:prstGeom prst="rect">
            <a:avLst/>
          </a:prstGeom>
          <a:noFill/>
          <a:ln/>
        </p:spPr>
        <p:txBody>
          <a:bodyPr wrap="square" lIns="0" tIns="0" rIns="0" bIns="0" rtlCol="0" anchor="ctr"/>
          <a:lstStyle/>
          <a:p>
            <a:pPr indent="0" marL="0">
              <a:buNone/>
            </a:pPr>
            <a:r>
              <a:rPr lang="en-US" sz="1050" b="1" dirty="0">
                <a:solidFill>
                  <a:srgbClr val="0E7490"/>
                </a:solidFill>
                <a:latin typeface="Arial" pitchFamily="34" charset="0"/>
                <a:ea typeface="Arial" pitchFamily="34" charset="-122"/>
                <a:cs typeface="Arial" pitchFamily="34" charset="-120"/>
              </a:rPr>
              <a:t>STORE</a:t>
            </a:r>
            <a:endParaRPr lang="en-US" sz="1050" dirty="0"/>
          </a:p>
        </p:txBody>
      </p:sp>
      <p:sp>
        <p:nvSpPr>
          <p:cNvPr id="38" name="Text 30"/>
          <p:cNvSpPr txBox="1"/>
          <p:nvPr/>
        </p:nvSpPr>
        <p:spPr>
          <a:xfrm>
            <a:off x="3557016" y="4983480"/>
            <a:ext cx="2231136" cy="960120"/>
          </a:xfrm>
          <a:prstGeom prst="rect">
            <a:avLst/>
          </a:prstGeom>
          <a:noFill/>
          <a:ln/>
        </p:spPr>
        <p:txBody>
          <a:bodyPr wrap="square" lIns="0" tIns="0" rIns="0" bIns="0" rtlCol="0" anchor="t"/>
          <a:lstStyle/>
          <a:p>
            <a:pPr indent="0" marL="0">
              <a:buNone/>
            </a:pPr>
            <a:r>
              <a:rPr lang="en-US" sz="1250" dirty="0">
                <a:solidFill>
                  <a:srgbClr val="1C1B22"/>
                </a:solidFill>
                <a:latin typeface="Calibri" pitchFamily="34" charset="0"/>
                <a:ea typeface="Calibri" pitchFamily="34" charset="-122"/>
                <a:cs typeface="Calibri" pitchFamily="34" charset="-120"/>
              </a:rPr>
              <a:t>Every number stored carries the id of its definition in QuantProject's registry.</a:t>
            </a:r>
            <a:endParaRPr lang="en-US" sz="1250" dirty="0"/>
          </a:p>
        </p:txBody>
      </p:sp>
      <p:sp>
        <p:nvSpPr>
          <p:cNvPr id="39" name="Shape 31"/>
          <p:cNvSpPr/>
          <p:nvPr/>
        </p:nvSpPr>
        <p:spPr>
          <a:xfrm>
            <a:off x="6199632" y="3794760"/>
            <a:ext cx="2596896" cy="2240280"/>
          </a:xfrm>
          <a:prstGeom prst="roundRect">
            <a:avLst>
              <a:gd name="adj" fmla="val 4082"/>
            </a:avLst>
          </a:prstGeom>
          <a:solidFill>
            <a:srgbClr val="F6F5FB"/>
          </a:solidFill>
          <a:ln w="12700">
            <a:solidFill>
              <a:srgbClr val="E4E1EA"/>
            </a:solidFill>
            <a:prstDash val="solid"/>
          </a:ln>
        </p:spPr>
      </p:sp>
      <p:sp>
        <p:nvSpPr>
          <p:cNvPr id="40" name="Shape 32"/>
          <p:cNvSpPr/>
          <p:nvPr/>
        </p:nvSpPr>
        <p:spPr>
          <a:xfrm>
            <a:off x="6382512" y="3977640"/>
            <a:ext cx="548640" cy="548640"/>
          </a:xfrm>
          <a:prstGeom prst="ellipse">
            <a:avLst/>
          </a:prstGeom>
          <a:solidFill>
            <a:srgbClr val="4F46E5"/>
          </a:solidFill>
          <a:ln w="12700">
            <a:solidFill>
              <a:srgbClr val="4F46E5"/>
            </a:solidFill>
            <a:prstDash val="solid"/>
          </a:ln>
        </p:spPr>
      </p:sp>
      <p:pic>
        <p:nvPicPr>
          <p:cNvPr id="41" name="Image 6" descr="preencoded.png">    </p:cNvPr>
          <p:cNvPicPr>
            <a:picLocks noChangeAspect="1"/>
          </p:cNvPicPr>
          <p:nvPr/>
        </p:nvPicPr>
        <p:blipFill>
          <a:blip r:embed="rId7"/>
          <a:stretch>
            <a:fillRect/>
          </a:stretch>
        </p:blipFill>
        <p:spPr>
          <a:xfrm>
            <a:off x="6514186" y="4109314"/>
            <a:ext cx="285293" cy="285293"/>
          </a:xfrm>
          <a:prstGeom prst="rect">
            <a:avLst/>
          </a:prstGeom>
        </p:spPr>
      </p:pic>
      <p:sp>
        <p:nvSpPr>
          <p:cNvPr id="42" name="Text 33"/>
          <p:cNvSpPr txBox="1"/>
          <p:nvPr/>
        </p:nvSpPr>
        <p:spPr>
          <a:xfrm>
            <a:off x="7040880" y="3931920"/>
            <a:ext cx="1636776" cy="685800"/>
          </a:xfrm>
          <a:prstGeom prst="rect">
            <a:avLst/>
          </a:prstGeom>
          <a:noFill/>
          <a:ln/>
        </p:spPr>
        <p:txBody>
          <a:bodyPr wrap="square" lIns="0" tIns="0" rIns="0" bIns="0" rtlCol="0" anchor="ctr"/>
          <a:lstStyle/>
          <a:p>
            <a:pPr indent="0" marL="0">
              <a:buNone/>
            </a:pPr>
            <a:r>
              <a:rPr lang="en-US" sz="1600" b="1" dirty="0">
                <a:solidFill>
                  <a:srgbClr val="1C1B22"/>
                </a:solidFill>
                <a:latin typeface="Arial" pitchFamily="34" charset="0"/>
                <a:ea typeface="Arial" pitchFamily="34" charset="-122"/>
                <a:cs typeface="Arial" pitchFamily="34" charset="-120"/>
              </a:rPr>
              <a:t>pyMzLib</a:t>
            </a:r>
            <a:endParaRPr lang="en-US" sz="1600" dirty="0"/>
          </a:p>
          <a:p>
            <a:pPr indent="0" marL="0">
              <a:buNone/>
            </a:pPr>
            <a:r>
              <a:rPr lang="en-US" sz="1150" dirty="0">
                <a:solidFill>
                  <a:srgbClr val="5B5968"/>
                </a:solidFill>
                <a:latin typeface="Calibri" pitchFamily="34" charset="0"/>
                <a:ea typeface="Calibri" pitchFamily="34" charset="-122"/>
                <a:cs typeface="Calibri" pitchFamily="34" charset="-120"/>
              </a:rPr>
              <a:t>Python bridge to mzLib</a:t>
            </a:r>
            <a:endParaRPr lang="en-US" sz="1600" dirty="0"/>
          </a:p>
        </p:txBody>
      </p:sp>
      <p:sp>
        <p:nvSpPr>
          <p:cNvPr id="43" name="Text 34"/>
          <p:cNvSpPr txBox="1"/>
          <p:nvPr/>
        </p:nvSpPr>
        <p:spPr>
          <a:xfrm>
            <a:off x="6382512" y="4690872"/>
            <a:ext cx="2231136" cy="274320"/>
          </a:xfrm>
          <a:prstGeom prst="rect">
            <a:avLst/>
          </a:prstGeom>
          <a:noFill/>
          <a:ln/>
        </p:spPr>
        <p:txBody>
          <a:bodyPr wrap="square" lIns="0" tIns="0" rIns="0" bIns="0" rtlCol="0" anchor="ctr"/>
          <a:lstStyle/>
          <a:p>
            <a:pPr indent="0" marL="0">
              <a:buNone/>
            </a:pPr>
            <a:r>
              <a:rPr lang="en-US" sz="1050" b="1" dirty="0">
                <a:solidFill>
                  <a:srgbClr val="4F46E5"/>
                </a:solidFill>
                <a:latin typeface="Arial" pitchFamily="34" charset="0"/>
                <a:ea typeface="Arial" pitchFamily="34" charset="-122"/>
                <a:cs typeface="Arial" pitchFamily="34" charset="-120"/>
              </a:rPr>
              <a:t>READ · CALL</a:t>
            </a:r>
            <a:endParaRPr lang="en-US" sz="1050" dirty="0"/>
          </a:p>
        </p:txBody>
      </p:sp>
      <p:sp>
        <p:nvSpPr>
          <p:cNvPr id="44" name="Text 35"/>
          <p:cNvSpPr txBox="1"/>
          <p:nvPr/>
        </p:nvSpPr>
        <p:spPr>
          <a:xfrm>
            <a:off x="6382512" y="4983480"/>
            <a:ext cx="2231136" cy="960120"/>
          </a:xfrm>
          <a:prstGeom prst="rect">
            <a:avLst/>
          </a:prstGeom>
          <a:noFill/>
          <a:ln/>
        </p:spPr>
        <p:txBody>
          <a:bodyPr wrap="square" lIns="0" tIns="0" rIns="0" bIns="0" rtlCol="0" anchor="t"/>
          <a:lstStyle/>
          <a:p>
            <a:pPr indent="0" marL="0">
              <a:buNone/>
            </a:pPr>
            <a:r>
              <a:rPr lang="en-US" sz="1250" dirty="0">
                <a:solidFill>
                  <a:srgbClr val="1C1B22"/>
                </a:solidFill>
                <a:latin typeface="Calibri" pitchFamily="34" charset="0"/>
                <a:ea typeface="Calibri" pitchFamily="34" charset="-122"/>
                <a:cs typeface="Calibri" pitchFamily="34" charset="-120"/>
              </a:rPr>
              <a:t>Read every search file through it, and call each engine's released code through it.</a:t>
            </a:r>
            <a:endParaRPr lang="en-US" sz="1250" dirty="0"/>
          </a:p>
        </p:txBody>
      </p:sp>
      <p:sp>
        <p:nvSpPr>
          <p:cNvPr id="45" name="Shape 36"/>
          <p:cNvSpPr/>
          <p:nvPr/>
        </p:nvSpPr>
        <p:spPr>
          <a:xfrm>
            <a:off x="9025128" y="3794760"/>
            <a:ext cx="2596896" cy="2240280"/>
          </a:xfrm>
          <a:prstGeom prst="roundRect">
            <a:avLst>
              <a:gd name="adj" fmla="val 4082"/>
            </a:avLst>
          </a:prstGeom>
          <a:solidFill>
            <a:srgbClr val="F6F5FB"/>
          </a:solidFill>
          <a:ln w="12700">
            <a:solidFill>
              <a:srgbClr val="E4E1EA"/>
            </a:solidFill>
            <a:prstDash val="solid"/>
          </a:ln>
        </p:spPr>
      </p:sp>
      <p:sp>
        <p:nvSpPr>
          <p:cNvPr id="46" name="Shape 37"/>
          <p:cNvSpPr/>
          <p:nvPr/>
        </p:nvSpPr>
        <p:spPr>
          <a:xfrm>
            <a:off x="9208008" y="3977640"/>
            <a:ext cx="548640" cy="548640"/>
          </a:xfrm>
          <a:prstGeom prst="ellipse">
            <a:avLst/>
          </a:prstGeom>
          <a:solidFill>
            <a:srgbClr val="A21CAF"/>
          </a:solidFill>
          <a:ln w="12700">
            <a:solidFill>
              <a:srgbClr val="A21CAF"/>
            </a:solidFill>
            <a:prstDash val="solid"/>
          </a:ln>
        </p:spPr>
      </p:sp>
      <p:pic>
        <p:nvPicPr>
          <p:cNvPr id="47" name="Image 7" descr="preencoded.png">    </p:cNvPr>
          <p:cNvPicPr>
            <a:picLocks noChangeAspect="1"/>
          </p:cNvPicPr>
          <p:nvPr/>
        </p:nvPicPr>
        <p:blipFill>
          <a:blip r:embed="rId8"/>
          <a:stretch>
            <a:fillRect/>
          </a:stretch>
        </p:blipFill>
        <p:spPr>
          <a:xfrm>
            <a:off x="9339682" y="4109314"/>
            <a:ext cx="285293" cy="285293"/>
          </a:xfrm>
          <a:prstGeom prst="rect">
            <a:avLst/>
          </a:prstGeom>
        </p:spPr>
      </p:pic>
      <p:sp>
        <p:nvSpPr>
          <p:cNvPr id="48" name="Text 38"/>
          <p:cNvSpPr txBox="1"/>
          <p:nvPr/>
        </p:nvSpPr>
        <p:spPr>
          <a:xfrm>
            <a:off x="9866376" y="3931920"/>
            <a:ext cx="1636776" cy="685800"/>
          </a:xfrm>
          <a:prstGeom prst="rect">
            <a:avLst/>
          </a:prstGeom>
          <a:noFill/>
          <a:ln/>
        </p:spPr>
        <p:txBody>
          <a:bodyPr wrap="square" lIns="0" tIns="0" rIns="0" bIns="0" rtlCol="0" anchor="ctr"/>
          <a:lstStyle/>
          <a:p>
            <a:pPr indent="0" marL="0">
              <a:buNone/>
            </a:pPr>
            <a:r>
              <a:rPr lang="en-US" sz="1600" b="1" dirty="0">
                <a:solidFill>
                  <a:srgbClr val="1C1B22"/>
                </a:solidFill>
                <a:latin typeface="Arial" pitchFamily="34" charset="0"/>
                <a:ea typeface="Arial" pitchFamily="34" charset="-122"/>
                <a:cs typeface="Arial" pitchFamily="34" charset="-120"/>
              </a:rPr>
              <a:t>and more</a:t>
            </a:r>
            <a:endParaRPr lang="en-US" sz="1600" dirty="0"/>
          </a:p>
          <a:p>
            <a:pPr indent="0" marL="0">
              <a:buNone/>
            </a:pPr>
            <a:r>
              <a:rPr lang="en-US" sz="1150" dirty="0">
                <a:solidFill>
                  <a:srgbClr val="5B5968"/>
                </a:solidFill>
                <a:latin typeface="Calibri" pitchFamily="34" charset="0"/>
                <a:ea typeface="Calibri" pitchFamily="34" charset="-122"/>
                <a:cs typeface="Calibri" pitchFamily="34" charset="-120"/>
              </a:rPr>
              <a:t>pride · qc · pep · localization</a:t>
            </a:r>
            <a:endParaRPr lang="en-US" sz="1600" dirty="0"/>
          </a:p>
        </p:txBody>
      </p:sp>
      <p:sp>
        <p:nvSpPr>
          <p:cNvPr id="49" name="Text 39"/>
          <p:cNvSpPr txBox="1"/>
          <p:nvPr/>
        </p:nvSpPr>
        <p:spPr>
          <a:xfrm>
            <a:off x="9208008" y="4690872"/>
            <a:ext cx="2231136" cy="274320"/>
          </a:xfrm>
          <a:prstGeom prst="rect">
            <a:avLst/>
          </a:prstGeom>
          <a:noFill/>
          <a:ln/>
        </p:spPr>
        <p:txBody>
          <a:bodyPr wrap="square" lIns="0" tIns="0" rIns="0" bIns="0" rtlCol="0" anchor="ctr"/>
          <a:lstStyle/>
          <a:p>
            <a:pPr indent="0" marL="0">
              <a:buNone/>
            </a:pPr>
            <a:r>
              <a:rPr lang="en-US" sz="1050" b="1" dirty="0">
                <a:solidFill>
                  <a:srgbClr val="A21CAF"/>
                </a:solidFill>
                <a:latin typeface="Arial" pitchFamily="34" charset="0"/>
                <a:ea typeface="Arial" pitchFamily="34" charset="-122"/>
                <a:cs typeface="Arial" pitchFamily="34" charset="-120"/>
              </a:rPr>
              <a:t>PARTNERS</a:t>
            </a:r>
            <a:endParaRPr lang="en-US" sz="1050" dirty="0"/>
          </a:p>
        </p:txBody>
      </p:sp>
      <p:sp>
        <p:nvSpPr>
          <p:cNvPr id="50" name="Text 40"/>
          <p:cNvSpPr txBox="1"/>
          <p:nvPr/>
        </p:nvSpPr>
        <p:spPr>
          <a:xfrm>
            <a:off x="9208008" y="4983480"/>
            <a:ext cx="2231136" cy="960120"/>
          </a:xfrm>
          <a:prstGeom prst="rect">
            <a:avLst/>
          </a:prstGeom>
          <a:noFill/>
          <a:ln/>
        </p:spPr>
        <p:txBody>
          <a:bodyPr wrap="square" lIns="0" tIns="0" rIns="0" bIns="0" rtlCol="0" anchor="t"/>
          <a:lstStyle/>
          <a:p>
            <a:pPr indent="0" marL="0">
              <a:buNone/>
            </a:pPr>
            <a:r>
              <a:rPr lang="en-US" sz="1250" dirty="0">
                <a:solidFill>
                  <a:srgbClr val="1C1B22"/>
                </a:solidFill>
                <a:latin typeface="Calibri" pitchFamily="34" charset="0"/>
                <a:ea typeface="Calibri" pitchFamily="34" charset="-122"/>
                <a:cs typeface="Calibri" pitchFamily="34" charset="-120"/>
              </a:rPr>
              <a:t>PRIDE access, quality reports, better error rates in MetaMorpheus, site-level false localization rates.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C1B22"/>
                </a:solidFill>
                <a:latin typeface="Arial" pitchFamily="34" charset="0"/>
                <a:ea typeface="Arial" pitchFamily="34" charset="-122"/>
                <a:cs typeface="Arial" pitchFamily="34" charset="-120"/>
              </a:rPr>
              <a:t>Built for AI agents first, and honest with them</a:t>
            </a:r>
            <a:endParaRPr lang="en-US" sz="3200" dirty="0"/>
          </a:p>
        </p:txBody>
      </p:sp>
      <p:sp>
        <p:nvSpPr>
          <p:cNvPr id="3" name="Shape 1"/>
          <p:cNvSpPr/>
          <p:nvPr/>
        </p:nvSpPr>
        <p:spPr>
          <a:xfrm>
            <a:off x="548640" y="1371600"/>
            <a:ext cx="5120640" cy="4480560"/>
          </a:xfrm>
          <a:prstGeom prst="roundRect">
            <a:avLst>
              <a:gd name="adj" fmla="val 2449"/>
            </a:avLst>
          </a:prstGeom>
          <a:solidFill>
            <a:srgbClr val="EEF0FF"/>
          </a:solidFill>
          <a:ln w="12700">
            <a:solidFill>
              <a:srgbClr val="EEF0FF"/>
            </a:solidFill>
            <a:prstDash val="solid"/>
          </a:ln>
        </p:spPr>
      </p:sp>
      <p:sp>
        <p:nvSpPr>
          <p:cNvPr id="4" name="Shape 2"/>
          <p:cNvSpPr/>
          <p:nvPr/>
        </p:nvSpPr>
        <p:spPr>
          <a:xfrm>
            <a:off x="822960" y="1645920"/>
            <a:ext cx="685800" cy="685800"/>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987552" y="1810512"/>
            <a:ext cx="356616" cy="356616"/>
          </a:xfrm>
          <a:prstGeom prst="rect">
            <a:avLst/>
          </a:prstGeom>
        </p:spPr>
      </p:pic>
      <p:sp>
        <p:nvSpPr>
          <p:cNvPr id="6" name="Text 3"/>
          <p:cNvSpPr txBox="1"/>
          <p:nvPr/>
        </p:nvSpPr>
        <p:spPr>
          <a:xfrm>
            <a:off x="1645920" y="1645920"/>
            <a:ext cx="3840480" cy="685800"/>
          </a:xfrm>
          <a:prstGeom prst="rect">
            <a:avLst/>
          </a:prstGeom>
          <a:noFill/>
          <a:ln/>
        </p:spPr>
        <p:txBody>
          <a:bodyPr wrap="square" lIns="0" tIns="0" rIns="0" bIns="0" rtlCol="0" anchor="ctr"/>
          <a:lstStyle/>
          <a:p>
            <a:pPr indent="0" marL="0">
              <a:buNone/>
            </a:pPr>
            <a:r>
              <a:rPr lang="en-US" sz="2000" b="1" dirty="0">
                <a:solidFill>
                  <a:srgbClr val="1C1B22"/>
                </a:solidFill>
                <a:latin typeface="Arial" pitchFamily="34" charset="0"/>
                <a:ea typeface="Arial" pitchFamily="34" charset="-122"/>
                <a:cs typeface="Arial" pitchFamily="34" charset="-120"/>
              </a:rPr>
              <a:t>An agent can ask</a:t>
            </a:r>
            <a:endParaRPr lang="en-US" sz="2000" dirty="0"/>
          </a:p>
        </p:txBody>
      </p:sp>
      <p:sp>
        <p:nvSpPr>
          <p:cNvPr id="7" name="Text 4"/>
          <p:cNvSpPr txBox="1"/>
          <p:nvPr/>
        </p:nvSpPr>
        <p:spPr>
          <a:xfrm>
            <a:off x="868680" y="2560320"/>
            <a:ext cx="457200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C1B22"/>
                </a:solidFill>
                <a:latin typeface="Calibri" pitchFamily="34" charset="0"/>
                <a:ea typeface="Calibri" pitchFamily="34" charset="-122"/>
                <a:cs typeface="Calibri" pitchFamily="34" charset="-120"/>
              </a:rPr>
              <a:t>Which datasets detect this protein at 1% FDR?</a:t>
            </a:r>
            <a:endParaRPr lang="en-US" sz="1600" dirty="0"/>
          </a:p>
          <a:p>
            <a:pPr marL="342900" indent="-342900">
              <a:spcAft>
                <a:spcPts val="1000"/>
              </a:spcAft>
              <a:buSzPct val="100000"/>
              <a:buChar char="•"/>
            </a:pPr>
            <a:r>
              <a:rPr lang="en-US" sz="1600" dirty="0">
                <a:solidFill>
                  <a:srgbClr val="1C1B22"/>
                </a:solidFill>
                <a:latin typeface="Calibri" pitchFamily="34" charset="0"/>
                <a:ea typeface="Calibri" pitchFamily="34" charset="-122"/>
                <a:cs typeface="Calibri" pitchFamily="34" charset="-120"/>
              </a:rPr>
              <a:t>Which PTM sites were seen on it, and in how many datasets?</a:t>
            </a:r>
            <a:endParaRPr lang="en-US" sz="1600" dirty="0"/>
          </a:p>
          <a:p>
            <a:pPr marL="342900" indent="-342900">
              <a:spcAft>
                <a:spcPts val="1000"/>
              </a:spcAft>
              <a:buSzPct val="100000"/>
              <a:buChar char="•"/>
            </a:pPr>
            <a:r>
              <a:rPr lang="en-US" sz="1600" dirty="0">
                <a:solidFill>
                  <a:srgbClr val="1C1B22"/>
                </a:solidFill>
                <a:latin typeface="Calibri" pitchFamily="34" charset="0"/>
                <a:ea typeface="Calibri" pitchFamily="34" charset="-122"/>
                <a:cs typeface="Calibri" pitchFamily="34" charset="-120"/>
              </a:rPr>
              <a:t>How was this number calculated, and from which files?</a:t>
            </a:r>
            <a:endParaRPr lang="en-US" sz="1600" dirty="0"/>
          </a:p>
        </p:txBody>
      </p:sp>
      <p:sp>
        <p:nvSpPr>
          <p:cNvPr id="8" name="Text 5"/>
          <p:cNvSpPr txBox="1"/>
          <p:nvPr/>
        </p:nvSpPr>
        <p:spPr>
          <a:xfrm>
            <a:off x="868680" y="4983480"/>
            <a:ext cx="4572000" cy="640080"/>
          </a:xfrm>
          <a:prstGeom prst="rect">
            <a:avLst/>
          </a:prstGeom>
          <a:noFill/>
          <a:ln/>
        </p:spPr>
        <p:txBody>
          <a:bodyPr wrap="square" lIns="0" tIns="0" rIns="0" bIns="0" rtlCol="0" anchor="ctr"/>
          <a:lstStyle/>
          <a:p>
            <a:pPr indent="0" marL="0">
              <a:buNone/>
            </a:pPr>
            <a:r>
              <a:rPr lang="en-US" sz="1300" i="1" dirty="0">
                <a:solidFill>
                  <a:srgbClr val="5B5968"/>
                </a:solidFill>
                <a:latin typeface="Calibri" pitchFamily="34" charset="0"/>
                <a:ea typeface="Calibri" pitchFamily="34" charset="-122"/>
                <a:cs typeface="Calibri" pitchFamily="34" charset="-120"/>
              </a:rPr>
              <a:t>Through the Model Context Protocol, the standard way AI assistants call tools.</a:t>
            </a:r>
            <a:endParaRPr lang="en-US" sz="1300" dirty="0"/>
          </a:p>
        </p:txBody>
      </p:sp>
      <p:sp>
        <p:nvSpPr>
          <p:cNvPr id="9" name="Shape 6"/>
          <p:cNvSpPr/>
          <p:nvPr/>
        </p:nvSpPr>
        <p:spPr>
          <a:xfrm>
            <a:off x="6126480" y="1417320"/>
            <a:ext cx="594360" cy="594360"/>
          </a:xfrm>
          <a:prstGeom prst="ellipse">
            <a:avLst/>
          </a:prstGeom>
          <a:solidFill>
            <a:srgbClr val="0E7490"/>
          </a:solidFill>
          <a:ln w="12700">
            <a:solidFill>
              <a:srgbClr val="0E7490"/>
            </a:solidFill>
            <a:prstDash val="solid"/>
          </a:ln>
        </p:spPr>
      </p:sp>
      <p:pic>
        <p:nvPicPr>
          <p:cNvPr id="10" name="Image 1" descr="preencoded.png">    </p:cNvPr>
          <p:cNvPicPr>
            <a:picLocks noChangeAspect="1"/>
          </p:cNvPicPr>
          <p:nvPr/>
        </p:nvPicPr>
        <p:blipFill>
          <a:blip r:embed="rId2"/>
          <a:stretch>
            <a:fillRect/>
          </a:stretch>
        </p:blipFill>
        <p:spPr>
          <a:xfrm>
            <a:off x="6269126" y="1559966"/>
            <a:ext cx="309067" cy="309067"/>
          </a:xfrm>
          <a:prstGeom prst="rect">
            <a:avLst/>
          </a:prstGeom>
        </p:spPr>
      </p:pic>
      <p:sp>
        <p:nvSpPr>
          <p:cNvPr id="11" name="Text 7"/>
          <p:cNvSpPr txBox="1"/>
          <p:nvPr/>
        </p:nvSpPr>
        <p:spPr>
          <a:xfrm>
            <a:off x="6903720" y="1371600"/>
            <a:ext cx="4754880" cy="960120"/>
          </a:xfrm>
          <a:prstGeom prst="rect">
            <a:avLst/>
          </a:prstGeom>
          <a:noFill/>
          <a:ln/>
        </p:spPr>
        <p:txBody>
          <a:bodyPr wrap="square" lIns="0" tIns="0" rIns="0" bIns="0" rtlCol="0" anchor="t"/>
          <a:lstStyle/>
          <a:p>
            <a:pPr indent="0" marL="0">
              <a:buNone/>
            </a:pPr>
            <a:r>
              <a:rPr lang="en-US" sz="1500" b="1" dirty="0">
                <a:solidFill>
                  <a:srgbClr val="1C1B22"/>
                </a:solidFill>
                <a:latin typeface="Arial" pitchFamily="34" charset="0"/>
                <a:ea typeface="Arial" pitchFamily="34" charset="-122"/>
                <a:cs typeface="Arial" pitchFamily="34" charset="-120"/>
              </a:rPr>
              <a:t>Every answer names the catalog version it came from</a:t>
            </a:r>
            <a:endParaRPr lang="en-US" sz="1500" dirty="0"/>
          </a:p>
          <a:p>
            <a:pPr indent="0" marL="0">
              <a:buNone/>
            </a:pPr>
            <a:r>
              <a:rPr lang="en-US" sz="1350" dirty="0">
                <a:solidFill>
                  <a:srgbClr val="5B5968"/>
                </a:solidFill>
                <a:latin typeface="Calibri" pitchFamily="34" charset="0"/>
                <a:ea typeface="Calibri" pitchFamily="34" charset="-122"/>
                <a:cs typeface="Calibri" pitchFamily="34" charset="-120"/>
              </a:rPr>
              <a:t>so it can be cited and reproduced.</a:t>
            </a:r>
            <a:endParaRPr lang="en-US" sz="1500" dirty="0"/>
          </a:p>
        </p:txBody>
      </p:sp>
      <p:sp>
        <p:nvSpPr>
          <p:cNvPr id="12" name="Shape 8"/>
          <p:cNvSpPr/>
          <p:nvPr/>
        </p:nvSpPr>
        <p:spPr>
          <a:xfrm>
            <a:off x="6126480" y="2532888"/>
            <a:ext cx="594360" cy="594360"/>
          </a:xfrm>
          <a:prstGeom prst="ellipse">
            <a:avLst/>
          </a:prstGeom>
          <a:solidFill>
            <a:srgbClr val="A21CAF"/>
          </a:solidFill>
          <a:ln w="12700">
            <a:solidFill>
              <a:srgbClr val="A21CAF"/>
            </a:solidFill>
            <a:prstDash val="solid"/>
          </a:ln>
        </p:spPr>
      </p:sp>
      <p:pic>
        <p:nvPicPr>
          <p:cNvPr id="13" name="Image 2" descr="preencoded.png">    </p:cNvPr>
          <p:cNvPicPr>
            <a:picLocks noChangeAspect="1"/>
          </p:cNvPicPr>
          <p:nvPr/>
        </p:nvPicPr>
        <p:blipFill>
          <a:blip r:embed="rId3"/>
          <a:stretch>
            <a:fillRect/>
          </a:stretch>
        </p:blipFill>
        <p:spPr>
          <a:xfrm>
            <a:off x="6269126" y="2675534"/>
            <a:ext cx="309067" cy="309067"/>
          </a:xfrm>
          <a:prstGeom prst="rect">
            <a:avLst/>
          </a:prstGeom>
        </p:spPr>
      </p:pic>
      <p:sp>
        <p:nvSpPr>
          <p:cNvPr id="14" name="Text 9"/>
          <p:cNvSpPr txBox="1"/>
          <p:nvPr/>
        </p:nvSpPr>
        <p:spPr>
          <a:xfrm>
            <a:off x="6903720" y="2487168"/>
            <a:ext cx="4754880" cy="960120"/>
          </a:xfrm>
          <a:prstGeom prst="rect">
            <a:avLst/>
          </a:prstGeom>
          <a:noFill/>
          <a:ln/>
        </p:spPr>
        <p:txBody>
          <a:bodyPr wrap="square" lIns="0" tIns="0" rIns="0" bIns="0" rtlCol="0" anchor="t"/>
          <a:lstStyle/>
          <a:p>
            <a:pPr indent="0" marL="0">
              <a:buNone/>
            </a:pPr>
            <a:r>
              <a:rPr lang="en-US" sz="1500" b="1" dirty="0">
                <a:solidFill>
                  <a:srgbClr val="1C1B22"/>
                </a:solidFill>
                <a:latin typeface="Arial" pitchFamily="34" charset="0"/>
                <a:ea typeface="Arial" pitchFamily="34" charset="-122"/>
                <a:cs typeface="Arial" pitchFamily="34" charset="-120"/>
              </a:rPr>
              <a:t>"No data" is never reported as "zero"</a:t>
            </a:r>
            <a:endParaRPr lang="en-US" sz="1500" dirty="0"/>
          </a:p>
          <a:p>
            <a:pPr indent="0" marL="0">
              <a:buNone/>
            </a:pPr>
            <a:r>
              <a:rPr lang="en-US" sz="1350" dirty="0">
                <a:solidFill>
                  <a:srgbClr val="5B5968"/>
                </a:solidFill>
                <a:latin typeface="Calibri" pitchFamily="34" charset="0"/>
                <a:ea typeface="Calibri" pitchFamily="34" charset="-122"/>
                <a:cs typeface="Calibri" pitchFamily="34" charset="-120"/>
              </a:rPr>
              <a:t>An empty table says nothing was delivered.</a:t>
            </a:r>
            <a:endParaRPr lang="en-US" sz="1500" dirty="0"/>
          </a:p>
        </p:txBody>
      </p:sp>
      <p:sp>
        <p:nvSpPr>
          <p:cNvPr id="15" name="Shape 10"/>
          <p:cNvSpPr/>
          <p:nvPr/>
        </p:nvSpPr>
        <p:spPr>
          <a:xfrm>
            <a:off x="6126480" y="3648456"/>
            <a:ext cx="594360" cy="594360"/>
          </a:xfrm>
          <a:prstGeom prst="ellipse">
            <a:avLst/>
          </a:prstGeom>
          <a:solidFill>
            <a:srgbClr val="D97706"/>
          </a:solidFill>
          <a:ln w="12700">
            <a:solidFill>
              <a:srgbClr val="D97706"/>
            </a:solidFill>
            <a:prstDash val="solid"/>
          </a:ln>
        </p:spPr>
      </p:sp>
      <p:pic>
        <p:nvPicPr>
          <p:cNvPr id="16" name="Image 3" descr="preencoded.png">    </p:cNvPr>
          <p:cNvPicPr>
            <a:picLocks noChangeAspect="1"/>
          </p:cNvPicPr>
          <p:nvPr/>
        </p:nvPicPr>
        <p:blipFill>
          <a:blip r:embed="rId4"/>
          <a:stretch>
            <a:fillRect/>
          </a:stretch>
        </p:blipFill>
        <p:spPr>
          <a:xfrm>
            <a:off x="6269126" y="3791102"/>
            <a:ext cx="309067" cy="309067"/>
          </a:xfrm>
          <a:prstGeom prst="rect">
            <a:avLst/>
          </a:prstGeom>
        </p:spPr>
      </p:pic>
      <p:sp>
        <p:nvSpPr>
          <p:cNvPr id="17" name="Text 11"/>
          <p:cNvSpPr txBox="1"/>
          <p:nvPr/>
        </p:nvSpPr>
        <p:spPr>
          <a:xfrm>
            <a:off x="6903720" y="3602736"/>
            <a:ext cx="4754880" cy="960120"/>
          </a:xfrm>
          <a:prstGeom prst="rect">
            <a:avLst/>
          </a:prstGeom>
          <a:noFill/>
          <a:ln/>
        </p:spPr>
        <p:txBody>
          <a:bodyPr wrap="square" lIns="0" tIns="0" rIns="0" bIns="0" rtlCol="0" anchor="t"/>
          <a:lstStyle/>
          <a:p>
            <a:pPr indent="0" marL="0">
              <a:buNone/>
            </a:pPr>
            <a:r>
              <a:rPr lang="en-US" sz="1500" b="1" dirty="0">
                <a:solidFill>
                  <a:srgbClr val="1C1B22"/>
                </a:solidFill>
                <a:latin typeface="Arial" pitchFamily="34" charset="0"/>
                <a:ea typeface="Arial" pitchFamily="34" charset="-122"/>
                <a:cs typeface="Arial" pitchFamily="34" charset="-120"/>
              </a:rPr>
              <a:t>Known problems travel with each dataset</a:t>
            </a:r>
            <a:endParaRPr lang="en-US" sz="1500" dirty="0"/>
          </a:p>
          <a:p>
            <a:pPr indent="0" marL="0">
              <a:buNone/>
            </a:pPr>
            <a:r>
              <a:rPr lang="en-US" sz="1350" dirty="0">
                <a:solidFill>
                  <a:srgbClr val="5B5968"/>
                </a:solidFill>
                <a:latin typeface="Calibri" pitchFamily="34" charset="0"/>
                <a:ea typeface="Calibri" pitchFamily="34" charset="-122"/>
                <a:cs typeface="Calibri" pitchFamily="34" charset="-120"/>
              </a:rPr>
              <a:t>such as a low identification rate or missing sample metadata.</a:t>
            </a:r>
            <a:endParaRPr lang="en-US" sz="1500" dirty="0"/>
          </a:p>
        </p:txBody>
      </p:sp>
      <p:sp>
        <p:nvSpPr>
          <p:cNvPr id="18" name="Shape 12"/>
          <p:cNvSpPr/>
          <p:nvPr/>
        </p:nvSpPr>
        <p:spPr>
          <a:xfrm>
            <a:off x="6126480" y="4764024"/>
            <a:ext cx="594360" cy="594360"/>
          </a:xfrm>
          <a:prstGeom prst="ellipse">
            <a:avLst/>
          </a:prstGeom>
          <a:solidFill>
            <a:srgbClr val="15803D"/>
          </a:solidFill>
          <a:ln w="12700">
            <a:solidFill>
              <a:srgbClr val="15803D"/>
            </a:solidFill>
            <a:prstDash val="solid"/>
          </a:ln>
        </p:spPr>
      </p:sp>
      <p:pic>
        <p:nvPicPr>
          <p:cNvPr id="19" name="Image 4" descr="preencoded.png">    </p:cNvPr>
          <p:cNvPicPr>
            <a:picLocks noChangeAspect="1"/>
          </p:cNvPicPr>
          <p:nvPr/>
        </p:nvPicPr>
        <p:blipFill>
          <a:blip r:embed="rId5"/>
          <a:stretch>
            <a:fillRect/>
          </a:stretch>
        </p:blipFill>
        <p:spPr>
          <a:xfrm>
            <a:off x="6269126" y="4906670"/>
            <a:ext cx="309067" cy="309067"/>
          </a:xfrm>
          <a:prstGeom prst="rect">
            <a:avLst/>
          </a:prstGeom>
        </p:spPr>
      </p:pic>
      <p:sp>
        <p:nvSpPr>
          <p:cNvPr id="20" name="Text 13"/>
          <p:cNvSpPr txBox="1"/>
          <p:nvPr/>
        </p:nvSpPr>
        <p:spPr>
          <a:xfrm>
            <a:off x="6903720" y="4718304"/>
            <a:ext cx="4754880" cy="960120"/>
          </a:xfrm>
          <a:prstGeom prst="rect">
            <a:avLst/>
          </a:prstGeom>
          <a:noFill/>
          <a:ln/>
        </p:spPr>
        <p:txBody>
          <a:bodyPr wrap="square" lIns="0" tIns="0" rIns="0" bIns="0" rtlCol="0" anchor="t"/>
          <a:lstStyle/>
          <a:p>
            <a:pPr indent="0" marL="0">
              <a:buNone/>
            </a:pPr>
            <a:r>
              <a:rPr lang="en-US" sz="1500" b="1" dirty="0">
                <a:solidFill>
                  <a:srgbClr val="1C1B22"/>
                </a:solidFill>
                <a:latin typeface="Arial" pitchFamily="34" charset="0"/>
                <a:ea typeface="Arial" pitchFamily="34" charset="-122"/>
                <a:cs typeface="Arial" pitchFamily="34" charset="-120"/>
              </a:rPr>
              <a:t>Nothing is invented to fill a gap</a:t>
            </a:r>
            <a:endParaRPr lang="en-US" sz="1500" dirty="0"/>
          </a:p>
          <a:p>
            <a:pPr indent="0" marL="0">
              <a:buNone/>
            </a:pPr>
            <a:r>
              <a:rPr lang="en-US" sz="1350" dirty="0">
                <a:solidFill>
                  <a:srgbClr val="5B5968"/>
                </a:solidFill>
                <a:latin typeface="Calibri" pitchFamily="34" charset="0"/>
                <a:ea typeface="Calibri" pitchFamily="34" charset="-122"/>
                <a:cs typeface="Calibri" pitchFamily="34" charset="-120"/>
              </a:rPr>
              <a:t>Bovine albumin, a lab reagent, is flagged and never counted as human.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200" b="1" dirty="0">
                <a:solidFill>
                  <a:srgbClr val="1C1B22"/>
                </a:solidFill>
                <a:latin typeface="Arial" pitchFamily="34" charset="0"/>
                <a:ea typeface="Arial" pitchFamily="34" charset="-122"/>
                <a:cs typeface="Arial" pitchFamily="34" charset="-120"/>
              </a:rPr>
              <a:t>Where it stands, and what comes next</a:t>
            </a:r>
            <a:endParaRPr lang="en-US" sz="3200" dirty="0"/>
          </a:p>
        </p:txBody>
      </p:sp>
      <p:sp>
        <p:nvSpPr>
          <p:cNvPr id="3" name="Shape 1"/>
          <p:cNvSpPr/>
          <p:nvPr/>
        </p:nvSpPr>
        <p:spPr>
          <a:xfrm>
            <a:off x="548640" y="1371600"/>
            <a:ext cx="5440680" cy="4206240"/>
          </a:xfrm>
          <a:prstGeom prst="roundRect">
            <a:avLst>
              <a:gd name="adj" fmla="val 2609"/>
            </a:avLst>
          </a:prstGeom>
          <a:solidFill>
            <a:srgbClr val="F6F5FB"/>
          </a:solidFill>
          <a:ln w="12700">
            <a:solidFill>
              <a:srgbClr val="E4E1EA"/>
            </a:solidFill>
            <a:prstDash val="solid"/>
          </a:ln>
        </p:spPr>
      </p:sp>
      <p:sp>
        <p:nvSpPr>
          <p:cNvPr id="4" name="Shape 2"/>
          <p:cNvSpPr/>
          <p:nvPr/>
        </p:nvSpPr>
        <p:spPr>
          <a:xfrm>
            <a:off x="868680" y="1645920"/>
            <a:ext cx="640080" cy="640080"/>
          </a:xfrm>
          <a:prstGeom prst="ellipse">
            <a:avLst/>
          </a:prstGeom>
          <a:solidFill>
            <a:srgbClr val="15803D"/>
          </a:solidFill>
          <a:ln w="12700">
            <a:solidFill>
              <a:srgbClr val="15803D"/>
            </a:solidFill>
            <a:prstDash val="solid"/>
          </a:ln>
        </p:spPr>
      </p:sp>
      <p:pic>
        <p:nvPicPr>
          <p:cNvPr id="5" name="Image 0" descr="preencoded.png">    </p:cNvPr>
          <p:cNvPicPr>
            <a:picLocks noChangeAspect="1"/>
          </p:cNvPicPr>
          <p:nvPr/>
        </p:nvPicPr>
        <p:blipFill>
          <a:blip r:embed="rId1"/>
          <a:stretch>
            <a:fillRect/>
          </a:stretch>
        </p:blipFill>
        <p:spPr>
          <a:xfrm>
            <a:off x="1022299" y="1799539"/>
            <a:ext cx="332842" cy="332842"/>
          </a:xfrm>
          <a:prstGeom prst="rect">
            <a:avLst/>
          </a:prstGeom>
        </p:spPr>
      </p:pic>
      <p:sp>
        <p:nvSpPr>
          <p:cNvPr id="6" name="Text 3"/>
          <p:cNvSpPr txBox="1"/>
          <p:nvPr/>
        </p:nvSpPr>
        <p:spPr>
          <a:xfrm>
            <a:off x="1691640" y="1645920"/>
            <a:ext cx="4023360" cy="640080"/>
          </a:xfrm>
          <a:prstGeom prst="rect">
            <a:avLst/>
          </a:prstGeom>
          <a:noFill/>
          <a:ln/>
        </p:spPr>
        <p:txBody>
          <a:bodyPr wrap="square" lIns="0" tIns="0" rIns="0" bIns="0" rtlCol="0" anchor="ctr"/>
          <a:lstStyle/>
          <a:p>
            <a:pPr indent="0" marL="0">
              <a:buNone/>
            </a:pPr>
            <a:r>
              <a:rPr lang="en-US" sz="2100" b="1" dirty="0">
                <a:solidFill>
                  <a:srgbClr val="1C1B22"/>
                </a:solidFill>
                <a:latin typeface="Arial" pitchFamily="34" charset="0"/>
                <a:ea typeface="Arial" pitchFamily="34" charset="-122"/>
                <a:cs typeface="Arial" pitchFamily="34" charset="-120"/>
              </a:rPr>
              <a:t>Working today</a:t>
            </a:r>
            <a:endParaRPr lang="en-US" sz="2100" dirty="0"/>
          </a:p>
        </p:txBody>
      </p:sp>
      <p:sp>
        <p:nvSpPr>
          <p:cNvPr id="7" name="Text 4"/>
          <p:cNvSpPr txBox="1"/>
          <p:nvPr/>
        </p:nvSpPr>
        <p:spPr>
          <a:xfrm>
            <a:off x="914400" y="2468880"/>
            <a:ext cx="4754880" cy="2971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C1B22"/>
                </a:solidFill>
                <a:latin typeface="Calibri" pitchFamily="34" charset="0"/>
                <a:ea typeface="Calibri" pitchFamily="34" charset="-122"/>
                <a:cs typeface="Calibri" pitchFamily="34" charset="-120"/>
              </a:rPr>
              <a:t>Ingest of each dataset, with counts checked against the search engine</a:t>
            </a:r>
            <a:endParaRPr lang="en-US" sz="1500" dirty="0"/>
          </a:p>
          <a:p>
            <a:pPr marL="342900" indent="-342900">
              <a:spcAft>
                <a:spcPts val="700"/>
              </a:spcAft>
              <a:buSzPct val="100000"/>
              <a:buChar char="•"/>
            </a:pPr>
            <a:r>
              <a:rPr lang="en-US" sz="1500" dirty="0">
                <a:solidFill>
                  <a:srgbClr val="1C1B22"/>
                </a:solidFill>
                <a:latin typeface="Calibri" pitchFamily="34" charset="0"/>
                <a:ea typeface="Calibri" pitchFamily="34" charset="-122"/>
                <a:cs typeface="Calibri" pitchFamily="34" charset="-120"/>
              </a:rPr>
              <a:t>A single queryable catalog across datasets</a:t>
            </a:r>
            <a:endParaRPr lang="en-US" sz="1500" dirty="0"/>
          </a:p>
          <a:p>
            <a:pPr marL="342900" indent="-342900">
              <a:spcAft>
                <a:spcPts val="700"/>
              </a:spcAft>
              <a:buSzPct val="100000"/>
              <a:buChar char="•"/>
            </a:pPr>
            <a:r>
              <a:rPr lang="en-US" sz="1500" dirty="0">
                <a:solidFill>
                  <a:srgbClr val="1C1B22"/>
                </a:solidFill>
                <a:latin typeface="Calibri" pitchFamily="34" charset="0"/>
                <a:ea typeface="Calibri" pitchFamily="34" charset="-122"/>
                <a:cs typeface="Calibri" pitchFamily="34" charset="-120"/>
              </a:rPr>
              <a:t>An AI agent server</a:t>
            </a:r>
            <a:endParaRPr lang="en-US" sz="1500" dirty="0"/>
          </a:p>
          <a:p>
            <a:pPr marL="342900" indent="-342900">
              <a:spcAft>
                <a:spcPts val="700"/>
              </a:spcAft>
              <a:buSzPct val="100000"/>
              <a:buChar char="•"/>
            </a:pPr>
            <a:r>
              <a:rPr lang="en-US" sz="1500" dirty="0">
                <a:solidFill>
                  <a:srgbClr val="1C1B22"/>
                </a:solidFill>
                <a:latin typeface="Calibri" pitchFamily="34" charset="0"/>
                <a:ea typeface="Calibri" pitchFamily="34" charset="-122"/>
                <a:cs typeface="Calibri" pitchFamily="34" charset="-120"/>
              </a:rPr>
              <a:t>A public website, live as a preview</a:t>
            </a:r>
            <a:endParaRPr lang="en-US" sz="1500" dirty="0"/>
          </a:p>
        </p:txBody>
      </p:sp>
      <p:sp>
        <p:nvSpPr>
          <p:cNvPr id="8" name="Shape 5"/>
          <p:cNvSpPr/>
          <p:nvPr/>
        </p:nvSpPr>
        <p:spPr>
          <a:xfrm>
            <a:off x="6263640" y="1371600"/>
            <a:ext cx="5440680" cy="4206240"/>
          </a:xfrm>
          <a:prstGeom prst="roundRect">
            <a:avLst>
              <a:gd name="adj" fmla="val 2609"/>
            </a:avLst>
          </a:prstGeom>
          <a:solidFill>
            <a:srgbClr val="F6F5FB"/>
          </a:solidFill>
          <a:ln w="12700">
            <a:solidFill>
              <a:srgbClr val="E4E1EA"/>
            </a:solidFill>
            <a:prstDash val="solid"/>
          </a:ln>
        </p:spPr>
      </p:sp>
      <p:sp>
        <p:nvSpPr>
          <p:cNvPr id="9" name="Shape 6"/>
          <p:cNvSpPr/>
          <p:nvPr/>
        </p:nvSpPr>
        <p:spPr>
          <a:xfrm>
            <a:off x="6583680" y="1645920"/>
            <a:ext cx="640080" cy="64008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2"/>
          <a:stretch>
            <a:fillRect/>
          </a:stretch>
        </p:blipFill>
        <p:spPr>
          <a:xfrm>
            <a:off x="6737299" y="1799539"/>
            <a:ext cx="332842" cy="332842"/>
          </a:xfrm>
          <a:prstGeom prst="rect">
            <a:avLst/>
          </a:prstGeom>
        </p:spPr>
      </p:pic>
      <p:sp>
        <p:nvSpPr>
          <p:cNvPr id="11" name="Text 7"/>
          <p:cNvSpPr txBox="1"/>
          <p:nvPr/>
        </p:nvSpPr>
        <p:spPr>
          <a:xfrm>
            <a:off x="7406640" y="1645920"/>
            <a:ext cx="4023360" cy="640080"/>
          </a:xfrm>
          <a:prstGeom prst="rect">
            <a:avLst/>
          </a:prstGeom>
          <a:noFill/>
          <a:ln/>
        </p:spPr>
        <p:txBody>
          <a:bodyPr wrap="square" lIns="0" tIns="0" rIns="0" bIns="0" rtlCol="0" anchor="ctr"/>
          <a:lstStyle/>
          <a:p>
            <a:pPr indent="0" marL="0">
              <a:buNone/>
            </a:pPr>
            <a:r>
              <a:rPr lang="en-US" sz="2100" b="1" dirty="0">
                <a:solidFill>
                  <a:srgbClr val="1C1B22"/>
                </a:solidFill>
                <a:latin typeface="Arial" pitchFamily="34" charset="0"/>
                <a:ea typeface="Arial" pitchFamily="34" charset="-122"/>
                <a:cs typeface="Arial" pitchFamily="34" charset="-120"/>
              </a:rPr>
              <a:t>Next</a:t>
            </a:r>
            <a:endParaRPr lang="en-US" sz="2100" dirty="0"/>
          </a:p>
        </p:txBody>
      </p:sp>
      <p:sp>
        <p:nvSpPr>
          <p:cNvPr id="12" name="Text 8"/>
          <p:cNvSpPr txBox="1"/>
          <p:nvPr/>
        </p:nvSpPr>
        <p:spPr>
          <a:xfrm>
            <a:off x="6629400" y="2468880"/>
            <a:ext cx="4754880" cy="2971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C1B22"/>
                </a:solidFill>
                <a:latin typeface="Calibri" pitchFamily="34" charset="0"/>
                <a:ea typeface="Calibri" pitchFamily="34" charset="-122"/>
                <a:cs typeface="Calibri" pitchFamily="34" charset="-120"/>
              </a:rPr>
              <a:t>Organelle assignments (go) and sample ages (sdrf)</a:t>
            </a:r>
            <a:endParaRPr lang="en-US" sz="1500" dirty="0"/>
          </a:p>
          <a:p>
            <a:pPr marL="342900" indent="-342900">
              <a:spcAft>
                <a:spcPts val="700"/>
              </a:spcAft>
              <a:buSzPct val="100000"/>
              <a:buChar char="•"/>
            </a:pPr>
            <a:r>
              <a:rPr lang="en-US" sz="1500" dirty="0">
                <a:solidFill>
                  <a:srgbClr val="1C1B22"/>
                </a:solidFill>
                <a:latin typeface="Calibri" pitchFamily="34" charset="0"/>
                <a:ea typeface="Calibri" pitchFamily="34" charset="-122"/>
                <a:cs typeface="Calibri" pitchFamily="34" charset="-120"/>
              </a:rPr>
              <a:t>Checked gene identity, run by dataRepo (logs)</a:t>
            </a:r>
            <a:endParaRPr lang="en-US" sz="1500" dirty="0"/>
          </a:p>
          <a:p>
            <a:pPr marL="342900" indent="-342900">
              <a:spcAft>
                <a:spcPts val="700"/>
              </a:spcAft>
              <a:buSzPct val="100000"/>
              <a:buChar char="•"/>
            </a:pPr>
            <a:r>
              <a:rPr lang="en-US" sz="1500" dirty="0">
                <a:solidFill>
                  <a:srgbClr val="1C1B22"/>
                </a:solidFill>
                <a:latin typeface="Calibri" pitchFamily="34" charset="0"/>
                <a:ea typeface="Calibri" pitchFamily="34" charset="-122"/>
                <a:cs typeface="Calibri" pitchFamily="34" charset="-120"/>
              </a:rPr>
              <a:t>PTM-trait statistics, run by dataRepo (ptmQtl)</a:t>
            </a:r>
            <a:endParaRPr lang="en-US" sz="1500" dirty="0"/>
          </a:p>
          <a:p>
            <a:pPr marL="342900" indent="-342900">
              <a:spcAft>
                <a:spcPts val="700"/>
              </a:spcAft>
              <a:buSzPct val="100000"/>
              <a:buChar char="•"/>
            </a:pPr>
            <a:r>
              <a:rPr lang="en-US" sz="1500" dirty="0">
                <a:solidFill>
                  <a:srgbClr val="1C1B22"/>
                </a:solidFill>
                <a:latin typeface="Calibri" pitchFamily="34" charset="0"/>
                <a:ea typeface="Calibri" pitchFamily="34" charset="-122"/>
                <a:cs typeface="Calibri" pitchFamily="34" charset="-120"/>
              </a:rPr>
              <a:t>Per-site localization confidence (phred)</a:t>
            </a:r>
            <a:endParaRPr lang="en-US" sz="1500" dirty="0"/>
          </a:p>
          <a:p>
            <a:pPr marL="342900" indent="-342900">
              <a:spcAft>
                <a:spcPts val="700"/>
              </a:spcAft>
              <a:buSzPct val="100000"/>
              <a:buChar char="•"/>
            </a:pPr>
            <a:r>
              <a:rPr lang="en-US" sz="1500" dirty="0">
                <a:solidFill>
                  <a:srgbClr val="1C1B22"/>
                </a:solidFill>
                <a:latin typeface="Calibri" pitchFamily="34" charset="0"/>
                <a:ea typeface="Calibri" pitchFamily="34" charset="-122"/>
                <a:cs typeface="Calibri" pitchFamily="34" charset="-120"/>
              </a:rPr>
              <a:t>Age effects per protein and PTM site (aging)</a:t>
            </a:r>
            <a:endParaRPr lang="en-US" sz="1500" dirty="0"/>
          </a:p>
          <a:p>
            <a:pPr marL="342900" indent="-342900">
              <a:spcAft>
                <a:spcPts val="700"/>
              </a:spcAft>
              <a:buSzPct val="100000"/>
              <a:buChar char="•"/>
            </a:pPr>
            <a:r>
              <a:rPr lang="en-US" sz="1500" dirty="0">
                <a:solidFill>
                  <a:srgbClr val="1C1B22"/>
                </a:solidFill>
                <a:latin typeface="Calibri" pitchFamily="34" charset="0"/>
                <a:ea typeface="Calibri" pitchFamily="34" charset="-122"/>
                <a:cs typeface="Calibri" pitchFamily="34" charset="-120"/>
              </a:rPr>
              <a:t>Citable releases with a DOI, and permanent hosting</a:t>
            </a:r>
            <a:endParaRPr lang="en-US" sz="1500" dirty="0"/>
          </a:p>
        </p:txBody>
      </p:sp>
      <p:sp>
        <p:nvSpPr>
          <p:cNvPr id="13" name="Text 9"/>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500" i="1" dirty="0">
                <a:solidFill>
                  <a:srgbClr val="4F46E5"/>
                </a:solidFill>
                <a:latin typeface="Calibri" pitchFamily="34" charset="0"/>
                <a:ea typeface="Calibri" pitchFamily="34" charset="-122"/>
                <a:cs typeface="Calibri" pitchFamily="34" charset="-120"/>
              </a:rPr>
              <a:t>The working group's own question, whether organelles age at different rates, needs the "Next" column.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37160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See it for yourself</a:t>
            </a:r>
            <a:endParaRPr lang="en-US" sz="4400" dirty="0"/>
          </a:p>
        </p:txBody>
      </p:sp>
      <p:sp>
        <p:nvSpPr>
          <p:cNvPr id="3" name="Shape 1"/>
          <p:cNvSpPr/>
          <p:nvPr/>
        </p:nvSpPr>
        <p:spPr>
          <a:xfrm>
            <a:off x="731520" y="2743200"/>
            <a:ext cx="685800" cy="685800"/>
          </a:xfrm>
          <a:prstGeom prst="ellipse">
            <a:avLst/>
          </a:prstGeom>
          <a:solidFill>
            <a:srgbClr val="0E7490"/>
          </a:solidFill>
          <a:ln w="12700">
            <a:solidFill>
              <a:srgbClr val="0E7490"/>
            </a:solidFill>
            <a:prstDash val="solid"/>
          </a:ln>
        </p:spPr>
      </p:sp>
      <p:pic>
        <p:nvPicPr>
          <p:cNvPr id="4" name="Image 0" descr="preencoded.png">    </p:cNvPr>
          <p:cNvPicPr>
            <a:picLocks noChangeAspect="1"/>
          </p:cNvPicPr>
          <p:nvPr/>
        </p:nvPicPr>
        <p:blipFill>
          <a:blip r:embed="rId1"/>
          <a:stretch>
            <a:fillRect/>
          </a:stretch>
        </p:blipFill>
        <p:spPr>
          <a:xfrm>
            <a:off x="896112" y="2907792"/>
            <a:ext cx="356616" cy="356616"/>
          </a:xfrm>
          <a:prstGeom prst="rect">
            <a:avLst/>
          </a:prstGeom>
        </p:spPr>
      </p:pic>
      <p:sp>
        <p:nvSpPr>
          <p:cNvPr id="5" name="Text 2"/>
          <p:cNvSpPr txBox="1"/>
          <p:nvPr/>
        </p:nvSpPr>
        <p:spPr>
          <a:xfrm>
            <a:off x="1645920" y="2724912"/>
            <a:ext cx="960120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Website</a:t>
            </a:r>
            <a:endParaRPr lang="en-US" sz="1800" dirty="0"/>
          </a:p>
          <a:p>
            <a:pPr indent="0" marL="0">
              <a:buNone/>
            </a:pPr>
            <a:r>
              <a:rPr lang="en-US" sz="1600" dirty="0">
                <a:solidFill>
                  <a:srgbClr val="C7C9FF"/>
                </a:solidFill>
                <a:latin typeface="Calibri" pitchFamily="34" charset="0"/>
                <a:ea typeface="Calibri" pitchFamily="34" charset="-122"/>
                <a:cs typeface="Calibri" pitchFamily="34" charset="-120"/>
              </a:rPr>
              <a:t>trishorts.github.io/aging-pipeline</a:t>
            </a:r>
            <a:endParaRPr lang="en-US" sz="1800" dirty="0"/>
          </a:p>
        </p:txBody>
      </p:sp>
      <p:sp>
        <p:nvSpPr>
          <p:cNvPr id="6" name="Shape 3"/>
          <p:cNvSpPr/>
          <p:nvPr/>
        </p:nvSpPr>
        <p:spPr>
          <a:xfrm>
            <a:off x="731520" y="3794760"/>
            <a:ext cx="685800" cy="685800"/>
          </a:xfrm>
          <a:prstGeom prst="ellipse">
            <a:avLst/>
          </a:prstGeom>
          <a:solidFill>
            <a:srgbClr val="4F46E5"/>
          </a:solidFill>
          <a:ln w="12700">
            <a:solidFill>
              <a:srgbClr val="4F46E5"/>
            </a:solidFill>
            <a:prstDash val="solid"/>
          </a:ln>
        </p:spPr>
      </p:sp>
      <p:pic>
        <p:nvPicPr>
          <p:cNvPr id="7" name="Image 1" descr="preencoded.png">    </p:cNvPr>
          <p:cNvPicPr>
            <a:picLocks noChangeAspect="1"/>
          </p:cNvPicPr>
          <p:nvPr/>
        </p:nvPicPr>
        <p:blipFill>
          <a:blip r:embed="rId2"/>
          <a:stretch>
            <a:fillRect/>
          </a:stretch>
        </p:blipFill>
        <p:spPr>
          <a:xfrm>
            <a:off x="896112" y="3959352"/>
            <a:ext cx="356616" cy="356616"/>
          </a:xfrm>
          <a:prstGeom prst="rect">
            <a:avLst/>
          </a:prstGeom>
        </p:spPr>
      </p:pic>
      <p:sp>
        <p:nvSpPr>
          <p:cNvPr id="8" name="Text 4"/>
          <p:cNvSpPr txBox="1"/>
          <p:nvPr/>
        </p:nvSpPr>
        <p:spPr>
          <a:xfrm>
            <a:off x="1645920" y="3776472"/>
            <a:ext cx="960120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Code</a:t>
            </a:r>
            <a:endParaRPr lang="en-US" sz="1800" dirty="0"/>
          </a:p>
          <a:p>
            <a:pPr indent="0" marL="0">
              <a:buNone/>
            </a:pPr>
            <a:r>
              <a:rPr lang="en-US" sz="1600" dirty="0">
                <a:solidFill>
                  <a:srgbClr val="C7C9FF"/>
                </a:solidFill>
                <a:latin typeface="Calibri" pitchFamily="34" charset="0"/>
                <a:ea typeface="Calibri" pitchFamily="34" charset="-122"/>
                <a:cs typeface="Calibri" pitchFamily="34" charset="-120"/>
              </a:rPr>
              <a:t>github.com/trishorts/dataRepo  ·  github.com/trishorts/aging-pipeline</a:t>
            </a:r>
            <a:endParaRPr lang="en-US" sz="1800" dirty="0"/>
          </a:p>
        </p:txBody>
      </p:sp>
      <p:sp>
        <p:nvSpPr>
          <p:cNvPr id="9" name="Shape 5"/>
          <p:cNvSpPr/>
          <p:nvPr/>
        </p:nvSpPr>
        <p:spPr>
          <a:xfrm>
            <a:off x="731520" y="4846320"/>
            <a:ext cx="685800" cy="685800"/>
          </a:xfrm>
          <a:prstGeom prst="ellipse">
            <a:avLst/>
          </a:prstGeom>
          <a:solidFill>
            <a:srgbClr val="A21CAF"/>
          </a:solidFill>
          <a:ln w="12700">
            <a:solidFill>
              <a:srgbClr val="A21CAF"/>
            </a:solidFill>
            <a:prstDash val="solid"/>
          </a:ln>
        </p:spPr>
      </p:sp>
      <p:pic>
        <p:nvPicPr>
          <p:cNvPr id="10" name="Image 2" descr="preencoded.png">    </p:cNvPr>
          <p:cNvPicPr>
            <a:picLocks noChangeAspect="1"/>
          </p:cNvPicPr>
          <p:nvPr/>
        </p:nvPicPr>
        <p:blipFill>
          <a:blip r:embed="rId3"/>
          <a:stretch>
            <a:fillRect/>
          </a:stretch>
        </p:blipFill>
        <p:spPr>
          <a:xfrm>
            <a:off x="896112" y="5010912"/>
            <a:ext cx="356616" cy="356616"/>
          </a:xfrm>
          <a:prstGeom prst="rect">
            <a:avLst/>
          </a:prstGeom>
        </p:spPr>
      </p:pic>
      <p:sp>
        <p:nvSpPr>
          <p:cNvPr id="11" name="Text 6"/>
          <p:cNvSpPr txBox="1"/>
          <p:nvPr/>
        </p:nvSpPr>
        <p:spPr>
          <a:xfrm>
            <a:off x="1645920" y="4828032"/>
            <a:ext cx="960120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Questions</a:t>
            </a:r>
            <a:endParaRPr lang="en-US" sz="1800" dirty="0"/>
          </a:p>
          <a:p>
            <a:pPr indent="0" marL="0">
              <a:buNone/>
            </a:pPr>
            <a:r>
              <a:rPr lang="en-US" sz="1600" dirty="0">
                <a:solidFill>
                  <a:srgbClr val="C7C9FF"/>
                </a:solidFill>
                <a:latin typeface="Calibri" pitchFamily="34" charset="0"/>
                <a:ea typeface="Calibri" pitchFamily="34" charset="-122"/>
                <a:cs typeface="Calibri" pitchFamily="34" charset="-120"/>
              </a:rPr>
              <a:t>Open an issue on aging-pipeline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dataRepo: an AI-ready repository of reanalysed aging proteomics</dc:title>
  <dc:subject>PptxGenJS Presentation</dc:subject>
  <dc:creator>PptxGenJS</dc:creator>
  <cp:lastModifiedBy>PptxGenJS</cp:lastModifiedBy>
  <cp:revision>1</cp:revision>
  <dcterms:created xsi:type="dcterms:W3CDTF">2026-09-23T13:31:12Z</dcterms:created>
  <dcterms:modified xsi:type="dcterms:W3CDTF">2026-09-23T13:31:12Z</dcterms:modified>
</cp:coreProperties>
</file>